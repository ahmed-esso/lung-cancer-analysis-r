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Lst>
  <p:sldSz cx="7556500" cy="10693400"/>
  <p:notesSz cx="6858000" cy="9144000"/>
  <p:embeddedFontLst>
    <p:embeddedFont>
      <p:font typeface="Aptos Bold" panose="020B0604020202020204" charset="0"/>
      <p:bold r:id="rId21"/>
    </p:embeddedFont>
    <p:embeddedFont>
      <p:font typeface="JetBrains Mono Medium" panose="020B0604020202020204" charset="0"/>
      <p:regular r:id="rId22"/>
    </p:embeddedFont>
    <p:embeddedFont>
      <p:font typeface="TT Interphases" panose="020B0604020202020204" charset="0"/>
      <p:regular r:id="rId23"/>
    </p:embeddedFont>
    <p:embeddedFont>
      <p:font typeface="TT Interphases Bold" panose="020B0604020202020204" charset="0"/>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8" d="100"/>
          <a:sy n="68" d="100"/>
        </p:scale>
        <p:origin x="3186" y="-1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18.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17.png"/><Relationship Id="rId2" Type="http://schemas.openxmlformats.org/officeDocument/2006/relationships/tags" Target="../tags/tag2.xml"/><Relationship Id="rId16" Type="http://schemas.openxmlformats.org/officeDocument/2006/relationships/image" Target="../media/image16.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7.xml"/><Relationship Id="rId10" Type="http://schemas.openxmlformats.org/officeDocument/2006/relationships/tags" Target="../tags/tag10.xml"/><Relationship Id="rId19" Type="http://schemas.openxmlformats.org/officeDocument/2006/relationships/image" Target="../media/image19.sv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5.sv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6.emf"/><Relationship Id="rId5" Type="http://schemas.openxmlformats.org/officeDocument/2006/relationships/oleObject" Target="../embeddings/oleObject1.bin"/><Relationship Id="rId4" Type="http://schemas.openxmlformats.org/officeDocument/2006/relationships/hyperlink" Target="https://www.kaggle.com/code/takkimsncn/lung-cancer-prediction"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720"/>
        </a:solidFill>
        <a:effectLst/>
      </p:bgPr>
    </p:bg>
    <p:spTree>
      <p:nvGrpSpPr>
        <p:cNvPr id="1" name=""/>
        <p:cNvGrpSpPr/>
        <p:nvPr/>
      </p:nvGrpSpPr>
      <p:grpSpPr>
        <a:xfrm>
          <a:off x="0" y="0"/>
          <a:ext cx="0" cy="0"/>
          <a:chOff x="0" y="0"/>
          <a:chExt cx="0" cy="0"/>
        </a:xfrm>
      </p:grpSpPr>
      <p:sp>
        <p:nvSpPr>
          <p:cNvPr id="2" name="Freeform 2"/>
          <p:cNvSpPr/>
          <p:nvPr/>
        </p:nvSpPr>
        <p:spPr>
          <a:xfrm rot="-1520589">
            <a:off x="1165859" y="3482734"/>
            <a:ext cx="8559172" cy="8452182"/>
          </a:xfrm>
          <a:custGeom>
            <a:avLst/>
            <a:gdLst/>
            <a:ahLst/>
            <a:cxnLst/>
            <a:rect l="l" t="t" r="r" b="b"/>
            <a:pathLst>
              <a:path w="8559172" h="8452182">
                <a:moveTo>
                  <a:pt x="0" y="0"/>
                </a:moveTo>
                <a:lnTo>
                  <a:pt x="8559172" y="0"/>
                </a:lnTo>
                <a:lnTo>
                  <a:pt x="8559172" y="8452182"/>
                </a:lnTo>
                <a:lnTo>
                  <a:pt x="0" y="84521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AutoShape 3"/>
          <p:cNvSpPr/>
          <p:nvPr/>
        </p:nvSpPr>
        <p:spPr>
          <a:xfrm>
            <a:off x="518380" y="3179192"/>
            <a:ext cx="6488205" cy="0"/>
          </a:xfrm>
          <a:prstGeom prst="line">
            <a:avLst/>
          </a:prstGeom>
          <a:ln w="19050" cap="flat">
            <a:solidFill>
              <a:srgbClr val="DBDBDD">
                <a:alpha val="74902"/>
              </a:srgbClr>
            </a:solidFill>
            <a:prstDash val="solid"/>
            <a:headEnd type="none" w="sm" len="sm"/>
            <a:tailEnd type="none" w="sm" len="sm"/>
          </a:ln>
        </p:spPr>
      </p:sp>
      <p:sp>
        <p:nvSpPr>
          <p:cNvPr id="4" name="TextBox 4"/>
          <p:cNvSpPr txBox="1"/>
          <p:nvPr/>
        </p:nvSpPr>
        <p:spPr>
          <a:xfrm>
            <a:off x="234244" y="1704859"/>
            <a:ext cx="7091511" cy="5682740"/>
          </a:xfrm>
          <a:prstGeom prst="rect">
            <a:avLst/>
          </a:prstGeom>
        </p:spPr>
        <p:txBody>
          <a:bodyPr lIns="0" tIns="0" rIns="0" bIns="0" rtlCol="0" anchor="t">
            <a:spAutoFit/>
          </a:bodyPr>
          <a:lstStyle/>
          <a:p>
            <a:pPr algn="l">
              <a:lnSpc>
                <a:spcPts val="11265"/>
              </a:lnSpc>
            </a:pPr>
            <a:r>
              <a:rPr lang="en-US" sz="8800" spc="-448">
                <a:solidFill>
                  <a:srgbClr val="DBDBDD"/>
                </a:solidFill>
                <a:latin typeface="TT Interphases" panose="02000503020000020004"/>
                <a:ea typeface="TT Interphases" panose="02000503020000020004"/>
                <a:cs typeface="TT Interphases" panose="02000503020000020004"/>
                <a:sym typeface="TT Interphases" panose="02000503020000020004"/>
              </a:rPr>
              <a:t>LUNG CANCER PREDICTION</a:t>
            </a:r>
          </a:p>
          <a:p>
            <a:pPr algn="l">
              <a:lnSpc>
                <a:spcPts val="11265"/>
              </a:lnSpc>
            </a:pPr>
            <a:r>
              <a:rPr lang="en-US" sz="8800" spc="-448">
                <a:solidFill>
                  <a:srgbClr val="DBDBDD"/>
                </a:solidFill>
                <a:latin typeface="TT Interphases" panose="02000503020000020004"/>
                <a:ea typeface="TT Interphases" panose="02000503020000020004"/>
                <a:cs typeface="TT Interphases" panose="02000503020000020004"/>
                <a:sym typeface="TT Interphases" panose="02000503020000020004"/>
              </a:rPr>
              <a:t>      REPORT</a:t>
            </a:r>
          </a:p>
          <a:p>
            <a:pPr algn="l">
              <a:lnSpc>
                <a:spcPts val="11265"/>
              </a:lnSpc>
            </a:pPr>
            <a:endParaRPr lang="en-US" sz="8800" spc="-448">
              <a:solidFill>
                <a:srgbClr val="DBDBDD"/>
              </a:solidFill>
              <a:latin typeface="TT Interphases" panose="02000503020000020004"/>
              <a:ea typeface="TT Interphases" panose="02000503020000020004"/>
              <a:cs typeface="TT Interphases" panose="02000503020000020004"/>
              <a:sym typeface="TT Interphases" panose="02000503020000020004"/>
            </a:endParaRPr>
          </a:p>
        </p:txBody>
      </p:sp>
      <p:sp>
        <p:nvSpPr>
          <p:cNvPr id="5" name="AutoShape 5"/>
          <p:cNvSpPr/>
          <p:nvPr/>
        </p:nvSpPr>
        <p:spPr>
          <a:xfrm>
            <a:off x="518380" y="4561210"/>
            <a:ext cx="6488205" cy="0"/>
          </a:xfrm>
          <a:prstGeom prst="line">
            <a:avLst/>
          </a:prstGeom>
          <a:ln w="19050" cap="flat">
            <a:solidFill>
              <a:srgbClr val="DBDBDD">
                <a:alpha val="74902"/>
              </a:srgbClr>
            </a:solidFill>
            <a:prstDash val="solid"/>
            <a:headEnd type="none" w="sm" len="sm"/>
            <a:tailEnd type="none" w="sm" len="sm"/>
          </a:ln>
        </p:spPr>
      </p:sp>
      <p:sp>
        <p:nvSpPr>
          <p:cNvPr id="6" name="Freeform 6"/>
          <p:cNvSpPr/>
          <p:nvPr/>
        </p:nvSpPr>
        <p:spPr>
          <a:xfrm>
            <a:off x="387538" y="5090625"/>
            <a:ext cx="510750" cy="510750"/>
          </a:xfrm>
          <a:custGeom>
            <a:avLst/>
            <a:gdLst/>
            <a:ahLst/>
            <a:cxnLst/>
            <a:rect l="l" t="t" r="r" b="b"/>
            <a:pathLst>
              <a:path w="510750" h="510750">
                <a:moveTo>
                  <a:pt x="0" y="0"/>
                </a:moveTo>
                <a:lnTo>
                  <a:pt x="510750" y="0"/>
                </a:lnTo>
                <a:lnTo>
                  <a:pt x="510750" y="510750"/>
                </a:lnTo>
                <a:lnTo>
                  <a:pt x="0" y="5107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540000" y="9911970"/>
            <a:ext cx="2351250" cy="205806"/>
          </a:xfrm>
          <a:prstGeom prst="rect">
            <a:avLst/>
          </a:prstGeom>
        </p:spPr>
        <p:txBody>
          <a:bodyPr lIns="0" tIns="0" rIns="0" bIns="0" rtlCol="0" anchor="t">
            <a:spAutoFit/>
          </a:bodyPr>
          <a:lstStyle/>
          <a:p>
            <a:pPr marL="0" lvl="0" indent="0" algn="l">
              <a:lnSpc>
                <a:spcPts val="1620"/>
              </a:lnSpc>
              <a:spcBef>
                <a:spcPct val="0"/>
              </a:spcBef>
            </a:pPr>
            <a:r>
              <a:rPr lang="en-US" sz="1200" b="1">
                <a:solidFill>
                  <a:srgbClr val="DBDBDD"/>
                </a:solidFill>
                <a:latin typeface="JetBrains Mono Medium" panose="02010609020102050004"/>
                <a:ea typeface="JetBrains Mono Medium" panose="02010609020102050004"/>
                <a:cs typeface="JetBrains Mono Medium" panose="02010609020102050004"/>
                <a:sym typeface="JetBrains Mono Medium" panose="02010609020102050004"/>
              </a:rPr>
              <a:t>MADE BY: AHMED ESSAM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6985645">
            <a:off x="3726375" y="8460269"/>
            <a:ext cx="3145649" cy="5284646"/>
          </a:xfrm>
          <a:custGeom>
            <a:avLst/>
            <a:gdLst/>
            <a:ahLst/>
            <a:cxnLst/>
            <a:rect l="l" t="t" r="r" b="b"/>
            <a:pathLst>
              <a:path w="3145649" h="5284646">
                <a:moveTo>
                  <a:pt x="0" y="0"/>
                </a:moveTo>
                <a:lnTo>
                  <a:pt x="3145650" y="0"/>
                </a:lnTo>
                <a:lnTo>
                  <a:pt x="3145650" y="5284646"/>
                </a:lnTo>
                <a:lnTo>
                  <a:pt x="0" y="5284646"/>
                </a:lnTo>
                <a:lnTo>
                  <a:pt x="0" y="0"/>
                </a:lnTo>
                <a:close/>
              </a:path>
            </a:pathLst>
          </a:custGeom>
          <a:blipFill>
            <a:blip r:embed="rId2">
              <a:alphaModFix amt="65000"/>
            </a:blip>
            <a:stretch>
              <a:fillRect l="-155825" b="-4881"/>
            </a:stretch>
          </a:blipFill>
        </p:spPr>
      </p:sp>
      <p:sp>
        <p:nvSpPr>
          <p:cNvPr id="3" name="TextBox 3"/>
          <p:cNvSpPr txBox="1"/>
          <p:nvPr/>
        </p:nvSpPr>
        <p:spPr>
          <a:xfrm>
            <a:off x="540000" y="663825"/>
            <a:ext cx="5654250" cy="695276"/>
          </a:xfrm>
          <a:prstGeom prst="rect">
            <a:avLst/>
          </a:prstGeom>
        </p:spPr>
        <p:txBody>
          <a:bodyPr lIns="0" tIns="0" rIns="0" bIns="0" rtlCol="0" anchor="t">
            <a:spAutoFit/>
          </a:bodyPr>
          <a:lstStyle/>
          <a:p>
            <a:pPr algn="l">
              <a:lnSpc>
                <a:spcPts val="5130"/>
              </a:lnSpc>
            </a:pPr>
            <a:r>
              <a:rPr lang="en-US" sz="5400" spc="-216">
                <a:solidFill>
                  <a:srgbClr val="080720"/>
                </a:solidFill>
                <a:latin typeface="TT Interphases" panose="02000503020000020004"/>
                <a:ea typeface="TT Interphases" panose="02000503020000020004"/>
                <a:cs typeface="TT Interphases" panose="02000503020000020004"/>
                <a:sym typeface="TT Interphases" panose="02000503020000020004"/>
              </a:rPr>
              <a:t>Table of Contents</a:t>
            </a:r>
          </a:p>
        </p:txBody>
      </p:sp>
      <p:sp>
        <p:nvSpPr>
          <p:cNvPr id="4" name="AutoShape 4"/>
          <p:cNvSpPr/>
          <p:nvPr/>
        </p:nvSpPr>
        <p:spPr>
          <a:xfrm>
            <a:off x="570160" y="3239459"/>
            <a:ext cx="6415578" cy="0"/>
          </a:xfrm>
          <a:prstGeom prst="line">
            <a:avLst/>
          </a:prstGeom>
          <a:ln w="19050" cap="flat">
            <a:solidFill>
              <a:srgbClr val="D0121F">
                <a:alpha val="74902"/>
              </a:srgbClr>
            </a:solidFill>
            <a:prstDash val="solid"/>
            <a:headEnd type="none" w="sm" len="sm"/>
            <a:tailEnd type="none" w="sm" len="sm"/>
          </a:ln>
        </p:spPr>
      </p:sp>
      <p:sp>
        <p:nvSpPr>
          <p:cNvPr id="5" name="TextBox 5"/>
          <p:cNvSpPr txBox="1"/>
          <p:nvPr/>
        </p:nvSpPr>
        <p:spPr>
          <a:xfrm>
            <a:off x="570160" y="2871241"/>
            <a:ext cx="4698808" cy="272968"/>
          </a:xfrm>
          <a:prstGeom prst="rect">
            <a:avLst/>
          </a:prstGeom>
        </p:spPr>
        <p:txBody>
          <a:bodyPr lIns="0" tIns="0" rIns="0" bIns="0" rtlCol="0" anchor="t">
            <a:spAutoFit/>
          </a:bodyPr>
          <a:lstStyle/>
          <a:p>
            <a:pPr marL="0" lvl="0" indent="0" algn="just">
              <a:lnSpc>
                <a:spcPts val="2325"/>
              </a:lnSpc>
              <a:spcBef>
                <a:spcPct val="0"/>
              </a:spcBef>
            </a:pPr>
            <a:r>
              <a:rPr lang="en-US" sz="1605">
                <a:solidFill>
                  <a:srgbClr val="2F2B6F"/>
                </a:solidFill>
                <a:latin typeface="TT Interphases" panose="02000503020000020004"/>
                <a:ea typeface="TT Interphases" panose="02000503020000020004"/>
                <a:cs typeface="TT Interphases" panose="02000503020000020004"/>
                <a:sym typeface="TT Interphases" panose="02000503020000020004"/>
              </a:rPr>
              <a:t>Table of Contents</a:t>
            </a:r>
          </a:p>
        </p:txBody>
      </p:sp>
      <p:sp>
        <p:nvSpPr>
          <p:cNvPr id="6" name="AutoShape 6"/>
          <p:cNvSpPr/>
          <p:nvPr/>
        </p:nvSpPr>
        <p:spPr>
          <a:xfrm>
            <a:off x="570160" y="3832295"/>
            <a:ext cx="6415578" cy="0"/>
          </a:xfrm>
          <a:prstGeom prst="line">
            <a:avLst/>
          </a:prstGeom>
          <a:ln w="19050" cap="flat">
            <a:solidFill>
              <a:srgbClr val="D0121F">
                <a:alpha val="74902"/>
              </a:srgbClr>
            </a:solidFill>
            <a:prstDash val="solid"/>
            <a:headEnd type="none" w="sm" len="sm"/>
            <a:tailEnd type="none" w="sm" len="sm"/>
          </a:ln>
        </p:spPr>
      </p:sp>
      <p:sp>
        <p:nvSpPr>
          <p:cNvPr id="7" name="TextBox 7"/>
          <p:cNvSpPr txBox="1"/>
          <p:nvPr/>
        </p:nvSpPr>
        <p:spPr>
          <a:xfrm>
            <a:off x="570160" y="3464077"/>
            <a:ext cx="4698808" cy="272968"/>
          </a:xfrm>
          <a:prstGeom prst="rect">
            <a:avLst/>
          </a:prstGeom>
        </p:spPr>
        <p:txBody>
          <a:bodyPr lIns="0" tIns="0" rIns="0" bIns="0" rtlCol="0" anchor="t">
            <a:spAutoFit/>
          </a:bodyPr>
          <a:lstStyle/>
          <a:p>
            <a:pPr marL="0" lvl="0" indent="0" algn="just">
              <a:lnSpc>
                <a:spcPts val="2325"/>
              </a:lnSpc>
              <a:spcBef>
                <a:spcPct val="0"/>
              </a:spcBef>
            </a:pPr>
            <a:r>
              <a:rPr lang="en-US" sz="1605">
                <a:solidFill>
                  <a:srgbClr val="2F2B6F"/>
                </a:solidFill>
                <a:latin typeface="TT Interphases" panose="02000503020000020004"/>
                <a:ea typeface="TT Interphases" panose="02000503020000020004"/>
                <a:cs typeface="TT Interphases" panose="02000503020000020004"/>
                <a:sym typeface="TT Interphases" panose="02000503020000020004"/>
              </a:rPr>
              <a:t>Executive Summary</a:t>
            </a:r>
          </a:p>
        </p:txBody>
      </p:sp>
      <p:sp>
        <p:nvSpPr>
          <p:cNvPr id="8" name="AutoShape 8"/>
          <p:cNvSpPr/>
          <p:nvPr/>
        </p:nvSpPr>
        <p:spPr>
          <a:xfrm>
            <a:off x="570160" y="4425131"/>
            <a:ext cx="6415578" cy="0"/>
          </a:xfrm>
          <a:prstGeom prst="line">
            <a:avLst/>
          </a:prstGeom>
          <a:ln w="19050" cap="flat">
            <a:solidFill>
              <a:srgbClr val="D0121F">
                <a:alpha val="74902"/>
              </a:srgbClr>
            </a:solidFill>
            <a:prstDash val="solid"/>
            <a:headEnd type="none" w="sm" len="sm"/>
            <a:tailEnd type="none" w="sm" len="sm"/>
          </a:ln>
        </p:spPr>
      </p:sp>
      <p:sp>
        <p:nvSpPr>
          <p:cNvPr id="9" name="TextBox 9"/>
          <p:cNvSpPr txBox="1"/>
          <p:nvPr/>
        </p:nvSpPr>
        <p:spPr>
          <a:xfrm>
            <a:off x="570160" y="4056913"/>
            <a:ext cx="4698808" cy="272968"/>
          </a:xfrm>
          <a:prstGeom prst="rect">
            <a:avLst/>
          </a:prstGeom>
        </p:spPr>
        <p:txBody>
          <a:bodyPr lIns="0" tIns="0" rIns="0" bIns="0" rtlCol="0" anchor="t">
            <a:spAutoFit/>
          </a:bodyPr>
          <a:lstStyle/>
          <a:p>
            <a:pPr marL="0" lvl="0" indent="0" algn="just">
              <a:lnSpc>
                <a:spcPts val="2325"/>
              </a:lnSpc>
              <a:spcBef>
                <a:spcPct val="0"/>
              </a:spcBef>
            </a:pPr>
            <a:r>
              <a:rPr lang="en-US" sz="1605">
                <a:solidFill>
                  <a:srgbClr val="2F2B6F"/>
                </a:solidFill>
                <a:latin typeface="TT Interphases" panose="02000503020000020004"/>
                <a:ea typeface="TT Interphases" panose="02000503020000020004"/>
                <a:cs typeface="TT Interphases" panose="02000503020000020004"/>
                <a:sym typeface="TT Interphases" panose="02000503020000020004"/>
              </a:rPr>
              <a:t>The Story the Data Tells</a:t>
            </a:r>
          </a:p>
        </p:txBody>
      </p:sp>
      <p:sp>
        <p:nvSpPr>
          <p:cNvPr id="10" name="AutoShape 10"/>
          <p:cNvSpPr/>
          <p:nvPr/>
        </p:nvSpPr>
        <p:spPr>
          <a:xfrm>
            <a:off x="570160" y="5017967"/>
            <a:ext cx="6415578" cy="0"/>
          </a:xfrm>
          <a:prstGeom prst="line">
            <a:avLst/>
          </a:prstGeom>
          <a:ln w="19050" cap="flat">
            <a:solidFill>
              <a:srgbClr val="D0121F">
                <a:alpha val="74902"/>
              </a:srgbClr>
            </a:solidFill>
            <a:prstDash val="solid"/>
            <a:headEnd type="none" w="sm" len="sm"/>
            <a:tailEnd type="none" w="sm" len="sm"/>
          </a:ln>
        </p:spPr>
      </p:sp>
      <p:sp>
        <p:nvSpPr>
          <p:cNvPr id="11" name="TextBox 11"/>
          <p:cNvSpPr txBox="1"/>
          <p:nvPr/>
        </p:nvSpPr>
        <p:spPr>
          <a:xfrm>
            <a:off x="570160" y="4653731"/>
            <a:ext cx="4698808" cy="272968"/>
          </a:xfrm>
          <a:prstGeom prst="rect">
            <a:avLst/>
          </a:prstGeom>
        </p:spPr>
        <p:txBody>
          <a:bodyPr lIns="0" tIns="0" rIns="0" bIns="0" rtlCol="0" anchor="t">
            <a:spAutoFit/>
          </a:bodyPr>
          <a:lstStyle/>
          <a:p>
            <a:pPr marL="0" lvl="0" indent="0" algn="just">
              <a:lnSpc>
                <a:spcPts val="2325"/>
              </a:lnSpc>
              <a:spcBef>
                <a:spcPct val="0"/>
              </a:spcBef>
            </a:pPr>
            <a:r>
              <a:rPr lang="en-US" sz="1605">
                <a:solidFill>
                  <a:srgbClr val="2F2B6F"/>
                </a:solidFill>
                <a:latin typeface="TT Interphases" panose="02000503020000020004"/>
                <a:ea typeface="TT Interphases" panose="02000503020000020004"/>
                <a:cs typeface="TT Interphases" panose="02000503020000020004"/>
                <a:sym typeface="TT Interphases" panose="02000503020000020004"/>
              </a:rPr>
              <a:t>Decision Tree Insights</a:t>
            </a:r>
          </a:p>
        </p:txBody>
      </p:sp>
      <p:sp>
        <p:nvSpPr>
          <p:cNvPr id="12" name="AutoShape 12"/>
          <p:cNvSpPr/>
          <p:nvPr/>
        </p:nvSpPr>
        <p:spPr>
          <a:xfrm>
            <a:off x="570160" y="5610802"/>
            <a:ext cx="6415578" cy="0"/>
          </a:xfrm>
          <a:prstGeom prst="line">
            <a:avLst/>
          </a:prstGeom>
          <a:ln w="19050" cap="flat">
            <a:solidFill>
              <a:srgbClr val="D0121F">
                <a:alpha val="74902"/>
              </a:srgbClr>
            </a:solidFill>
            <a:prstDash val="solid"/>
            <a:headEnd type="none" w="sm" len="sm"/>
            <a:tailEnd type="none" w="sm" len="sm"/>
          </a:ln>
        </p:spPr>
      </p:sp>
      <p:sp>
        <p:nvSpPr>
          <p:cNvPr id="13" name="TextBox 13"/>
          <p:cNvSpPr txBox="1"/>
          <p:nvPr/>
        </p:nvSpPr>
        <p:spPr>
          <a:xfrm>
            <a:off x="570160" y="5246567"/>
            <a:ext cx="4698808" cy="272968"/>
          </a:xfrm>
          <a:prstGeom prst="rect">
            <a:avLst/>
          </a:prstGeom>
        </p:spPr>
        <p:txBody>
          <a:bodyPr lIns="0" tIns="0" rIns="0" bIns="0" rtlCol="0" anchor="t">
            <a:spAutoFit/>
          </a:bodyPr>
          <a:lstStyle/>
          <a:p>
            <a:pPr marL="0" lvl="0" indent="0" algn="just">
              <a:lnSpc>
                <a:spcPts val="2325"/>
              </a:lnSpc>
              <a:spcBef>
                <a:spcPct val="0"/>
              </a:spcBef>
            </a:pPr>
            <a:r>
              <a:rPr lang="en-US" sz="1605">
                <a:solidFill>
                  <a:srgbClr val="2F2B6F"/>
                </a:solidFill>
                <a:latin typeface="TT Interphases" panose="02000503020000020004"/>
                <a:ea typeface="TT Interphases" panose="02000503020000020004"/>
                <a:cs typeface="TT Interphases" panose="02000503020000020004"/>
                <a:sym typeface="TT Interphases" panose="02000503020000020004"/>
              </a:rPr>
              <a:t>An</a:t>
            </a:r>
            <a:r>
              <a:rPr lang="en-US" sz="1605" u="none" strike="noStrike">
                <a:solidFill>
                  <a:srgbClr val="2F2B6F"/>
                </a:solidFill>
                <a:latin typeface="TT Interphases" panose="02000503020000020004"/>
                <a:ea typeface="TT Interphases" panose="02000503020000020004"/>
                <a:cs typeface="TT Interphases" panose="02000503020000020004"/>
                <a:sym typeface="TT Interphases" panose="02000503020000020004"/>
              </a:rPr>
              <a:t>alysis</a:t>
            </a:r>
          </a:p>
        </p:txBody>
      </p:sp>
      <p:sp>
        <p:nvSpPr>
          <p:cNvPr id="14" name="AutoShape 14"/>
          <p:cNvSpPr/>
          <p:nvPr/>
        </p:nvSpPr>
        <p:spPr>
          <a:xfrm>
            <a:off x="570160" y="6203638"/>
            <a:ext cx="6415578" cy="0"/>
          </a:xfrm>
          <a:prstGeom prst="line">
            <a:avLst/>
          </a:prstGeom>
          <a:ln w="19050" cap="flat">
            <a:solidFill>
              <a:srgbClr val="D0121F">
                <a:alpha val="74902"/>
              </a:srgbClr>
            </a:solidFill>
            <a:prstDash val="solid"/>
            <a:headEnd type="none" w="sm" len="sm"/>
            <a:tailEnd type="none" w="sm" len="sm"/>
          </a:ln>
        </p:spPr>
      </p:sp>
      <p:sp>
        <p:nvSpPr>
          <p:cNvPr id="15" name="TextBox 15"/>
          <p:cNvSpPr txBox="1"/>
          <p:nvPr/>
        </p:nvSpPr>
        <p:spPr>
          <a:xfrm>
            <a:off x="570160" y="5835420"/>
            <a:ext cx="4698808" cy="272968"/>
          </a:xfrm>
          <a:prstGeom prst="rect">
            <a:avLst/>
          </a:prstGeom>
        </p:spPr>
        <p:txBody>
          <a:bodyPr lIns="0" tIns="0" rIns="0" bIns="0" rtlCol="0" anchor="t">
            <a:spAutoFit/>
          </a:bodyPr>
          <a:lstStyle/>
          <a:p>
            <a:pPr marL="0" lvl="0" indent="0" algn="just">
              <a:lnSpc>
                <a:spcPts val="2325"/>
              </a:lnSpc>
              <a:spcBef>
                <a:spcPct val="0"/>
              </a:spcBef>
            </a:pPr>
            <a:r>
              <a:rPr lang="en-US" sz="1605">
                <a:solidFill>
                  <a:srgbClr val="2F2B6F"/>
                </a:solidFill>
                <a:latin typeface="TT Interphases" panose="02000503020000020004"/>
                <a:ea typeface="TT Interphases" panose="02000503020000020004"/>
                <a:cs typeface="TT Interphases" panose="02000503020000020004"/>
                <a:sym typeface="TT Interphases" panose="02000503020000020004"/>
              </a:rPr>
              <a:t>Model Perf</a:t>
            </a:r>
            <a:r>
              <a:rPr lang="en-US" sz="1605" u="none" strike="noStrike">
                <a:solidFill>
                  <a:srgbClr val="2F2B6F"/>
                </a:solidFill>
                <a:latin typeface="TT Interphases" panose="02000503020000020004"/>
                <a:ea typeface="TT Interphases" panose="02000503020000020004"/>
                <a:cs typeface="TT Interphases" panose="02000503020000020004"/>
                <a:sym typeface="TT Interphases" panose="02000503020000020004"/>
              </a:rPr>
              <a:t>ormance</a:t>
            </a:r>
          </a:p>
        </p:txBody>
      </p:sp>
      <p:sp>
        <p:nvSpPr>
          <p:cNvPr id="16" name="AutoShape 16"/>
          <p:cNvSpPr/>
          <p:nvPr/>
        </p:nvSpPr>
        <p:spPr>
          <a:xfrm>
            <a:off x="570160" y="6796474"/>
            <a:ext cx="6415578" cy="0"/>
          </a:xfrm>
          <a:prstGeom prst="line">
            <a:avLst/>
          </a:prstGeom>
          <a:ln w="19050" cap="flat">
            <a:solidFill>
              <a:srgbClr val="D0121F">
                <a:alpha val="74902"/>
              </a:srgbClr>
            </a:solidFill>
            <a:prstDash val="solid"/>
            <a:headEnd type="none" w="sm" len="sm"/>
            <a:tailEnd type="none" w="sm" len="sm"/>
          </a:ln>
        </p:spPr>
      </p:sp>
      <p:sp>
        <p:nvSpPr>
          <p:cNvPr id="17" name="TextBox 17"/>
          <p:cNvSpPr txBox="1"/>
          <p:nvPr/>
        </p:nvSpPr>
        <p:spPr>
          <a:xfrm>
            <a:off x="570160" y="6428256"/>
            <a:ext cx="4698808" cy="272968"/>
          </a:xfrm>
          <a:prstGeom prst="rect">
            <a:avLst/>
          </a:prstGeom>
        </p:spPr>
        <p:txBody>
          <a:bodyPr lIns="0" tIns="0" rIns="0" bIns="0" rtlCol="0" anchor="t">
            <a:spAutoFit/>
          </a:bodyPr>
          <a:lstStyle/>
          <a:p>
            <a:pPr marL="0" lvl="0" indent="0" algn="just">
              <a:lnSpc>
                <a:spcPts val="2325"/>
              </a:lnSpc>
              <a:spcBef>
                <a:spcPct val="0"/>
              </a:spcBef>
            </a:pPr>
            <a:r>
              <a:rPr lang="en-US" sz="1605">
                <a:solidFill>
                  <a:srgbClr val="2F2B6F"/>
                </a:solidFill>
                <a:latin typeface="TT Interphases" panose="02000503020000020004"/>
                <a:ea typeface="TT Interphases" panose="02000503020000020004"/>
                <a:cs typeface="TT Interphases" panose="02000503020000020004"/>
                <a:sym typeface="TT Interphases" panose="02000503020000020004"/>
              </a:rPr>
              <a:t>Why the Models Achieved 100 percent Accuracy</a:t>
            </a:r>
          </a:p>
        </p:txBody>
      </p:sp>
      <p:sp>
        <p:nvSpPr>
          <p:cNvPr id="18" name="TextBox 18"/>
          <p:cNvSpPr txBox="1"/>
          <p:nvPr/>
        </p:nvSpPr>
        <p:spPr>
          <a:xfrm>
            <a:off x="570160" y="7023262"/>
            <a:ext cx="4698808" cy="272968"/>
          </a:xfrm>
          <a:prstGeom prst="rect">
            <a:avLst/>
          </a:prstGeom>
        </p:spPr>
        <p:txBody>
          <a:bodyPr lIns="0" tIns="0" rIns="0" bIns="0" rtlCol="0" anchor="t">
            <a:spAutoFit/>
          </a:bodyPr>
          <a:lstStyle/>
          <a:p>
            <a:pPr marL="0" lvl="0" indent="0" algn="just">
              <a:lnSpc>
                <a:spcPts val="2325"/>
              </a:lnSpc>
              <a:spcBef>
                <a:spcPct val="0"/>
              </a:spcBef>
            </a:pPr>
            <a:r>
              <a:rPr lang="en-US" sz="1605">
                <a:solidFill>
                  <a:srgbClr val="2F2B6F"/>
                </a:solidFill>
                <a:latin typeface="TT Interphases" panose="02000503020000020004"/>
                <a:ea typeface="TT Interphases" panose="02000503020000020004"/>
                <a:cs typeface="TT Interphases" panose="02000503020000020004"/>
                <a:sym typeface="TT Interphases" panose="02000503020000020004"/>
              </a:rPr>
              <a:t>Conclusion and Recommendations</a:t>
            </a:r>
          </a:p>
        </p:txBody>
      </p:sp>
      <p:sp>
        <p:nvSpPr>
          <p:cNvPr id="19" name="AutoShape 19"/>
          <p:cNvSpPr/>
          <p:nvPr/>
        </p:nvSpPr>
        <p:spPr>
          <a:xfrm>
            <a:off x="570160" y="7389310"/>
            <a:ext cx="6415578" cy="0"/>
          </a:xfrm>
          <a:prstGeom prst="line">
            <a:avLst/>
          </a:prstGeom>
          <a:ln w="19050" cap="flat">
            <a:solidFill>
              <a:srgbClr val="D0121F">
                <a:alpha val="74902"/>
              </a:srgbClr>
            </a:solidFill>
            <a:prstDash val="solid"/>
            <a:headEnd type="none" w="sm" len="sm"/>
            <a:tailEnd type="none" w="sm"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720"/>
        </a:solidFill>
        <a:effectLst/>
      </p:bgPr>
    </p:bg>
    <p:spTree>
      <p:nvGrpSpPr>
        <p:cNvPr id="1" name=""/>
        <p:cNvGrpSpPr/>
        <p:nvPr/>
      </p:nvGrpSpPr>
      <p:grpSpPr>
        <a:xfrm>
          <a:off x="0" y="0"/>
          <a:ext cx="0" cy="0"/>
          <a:chOff x="0" y="0"/>
          <a:chExt cx="0" cy="0"/>
        </a:xfrm>
      </p:grpSpPr>
      <p:sp>
        <p:nvSpPr>
          <p:cNvPr id="2" name="Freeform 2"/>
          <p:cNvSpPr/>
          <p:nvPr/>
        </p:nvSpPr>
        <p:spPr>
          <a:xfrm rot="-681637">
            <a:off x="1509780" y="1246886"/>
            <a:ext cx="7409927" cy="6641989"/>
          </a:xfrm>
          <a:custGeom>
            <a:avLst/>
            <a:gdLst/>
            <a:ahLst/>
            <a:cxnLst/>
            <a:rect l="l" t="t" r="r" b="b"/>
            <a:pathLst>
              <a:path w="7409927" h="6641989">
                <a:moveTo>
                  <a:pt x="0" y="0"/>
                </a:moveTo>
                <a:lnTo>
                  <a:pt x="7409927" y="0"/>
                </a:lnTo>
                <a:lnTo>
                  <a:pt x="7409927" y="6641990"/>
                </a:lnTo>
                <a:lnTo>
                  <a:pt x="0" y="6641990"/>
                </a:lnTo>
                <a:lnTo>
                  <a:pt x="0" y="0"/>
                </a:lnTo>
                <a:close/>
              </a:path>
            </a:pathLst>
          </a:custGeom>
          <a:blipFill>
            <a:blip r:embed="rId2">
              <a:alphaModFix amt="18999"/>
              <a:extLst>
                <a:ext uri="{96DAC541-7B7A-43D3-8B79-37D633B846F1}">
                  <asvg:svgBlip xmlns:asvg="http://schemas.microsoft.com/office/drawing/2016/SVG/main" r:embed="rId3"/>
                </a:ext>
              </a:extLst>
            </a:blip>
            <a:stretch>
              <a:fillRect/>
            </a:stretch>
          </a:blipFill>
        </p:spPr>
      </p:sp>
      <p:sp>
        <p:nvSpPr>
          <p:cNvPr id="3" name="AutoShape 3"/>
          <p:cNvSpPr/>
          <p:nvPr/>
        </p:nvSpPr>
        <p:spPr>
          <a:xfrm>
            <a:off x="535898" y="5336475"/>
            <a:ext cx="6488205" cy="0"/>
          </a:xfrm>
          <a:prstGeom prst="line">
            <a:avLst/>
          </a:prstGeom>
          <a:ln w="19050" cap="flat">
            <a:solidFill>
              <a:srgbClr val="DDA2A5">
                <a:alpha val="74902"/>
              </a:srgbClr>
            </a:solidFill>
            <a:prstDash val="solid"/>
            <a:headEnd type="none" w="sm" len="sm"/>
            <a:tailEnd type="none" w="sm" len="sm"/>
          </a:ln>
        </p:spPr>
      </p:sp>
      <p:sp>
        <p:nvSpPr>
          <p:cNvPr id="4" name="AutoShape 4"/>
          <p:cNvSpPr/>
          <p:nvPr/>
        </p:nvSpPr>
        <p:spPr>
          <a:xfrm>
            <a:off x="535898" y="9961275"/>
            <a:ext cx="6488205" cy="0"/>
          </a:xfrm>
          <a:prstGeom prst="line">
            <a:avLst/>
          </a:prstGeom>
          <a:ln w="19050" cap="flat">
            <a:solidFill>
              <a:srgbClr val="DDA2A5">
                <a:alpha val="74902"/>
              </a:srgbClr>
            </a:solidFill>
            <a:prstDash val="solid"/>
            <a:headEnd type="none" w="sm" len="sm"/>
            <a:tailEnd type="none" w="sm" len="sm"/>
          </a:ln>
        </p:spPr>
      </p:sp>
      <p:sp>
        <p:nvSpPr>
          <p:cNvPr id="5" name="TextBox 5"/>
          <p:cNvSpPr txBox="1"/>
          <p:nvPr/>
        </p:nvSpPr>
        <p:spPr>
          <a:xfrm>
            <a:off x="535898" y="663825"/>
            <a:ext cx="6480000" cy="695276"/>
          </a:xfrm>
          <a:prstGeom prst="rect">
            <a:avLst/>
          </a:prstGeom>
        </p:spPr>
        <p:txBody>
          <a:bodyPr lIns="0" tIns="0" rIns="0" bIns="0" rtlCol="0" anchor="t">
            <a:spAutoFit/>
          </a:bodyPr>
          <a:lstStyle/>
          <a:p>
            <a:pPr algn="l">
              <a:lnSpc>
                <a:spcPts val="5130"/>
              </a:lnSpc>
            </a:pPr>
            <a:r>
              <a:rPr lang="en-US" sz="5400" spc="-216">
                <a:solidFill>
                  <a:srgbClr val="DBDBDD"/>
                </a:solidFill>
                <a:latin typeface="TT Interphases" panose="02000503020000020004"/>
                <a:ea typeface="TT Interphases" panose="02000503020000020004"/>
                <a:cs typeface="TT Interphases" panose="02000503020000020004"/>
                <a:sym typeface="TT Interphases" panose="02000503020000020004"/>
              </a:rPr>
              <a:t>Executive Summary</a:t>
            </a:r>
          </a:p>
        </p:txBody>
      </p:sp>
      <p:sp>
        <p:nvSpPr>
          <p:cNvPr id="6" name="TextBox 6"/>
          <p:cNvSpPr txBox="1"/>
          <p:nvPr/>
        </p:nvSpPr>
        <p:spPr>
          <a:xfrm>
            <a:off x="501387" y="1712280"/>
            <a:ext cx="6549022" cy="3386070"/>
          </a:xfrm>
          <a:prstGeom prst="rect">
            <a:avLst/>
          </a:prstGeom>
        </p:spPr>
        <p:txBody>
          <a:bodyPr lIns="0" tIns="0" rIns="0" bIns="0" rtlCol="0" anchor="t">
            <a:spAutoFit/>
          </a:bodyPr>
          <a:lstStyle/>
          <a:p>
            <a:pPr marL="0" lvl="0" indent="0" algn="l">
              <a:lnSpc>
                <a:spcPts val="3075"/>
              </a:lnSpc>
            </a:pPr>
            <a:r>
              <a:rPr lang="en-US" sz="1715" spc="-42">
                <a:solidFill>
                  <a:srgbClr val="FFFFFF"/>
                </a:solidFill>
                <a:latin typeface="TT Interphases" panose="02000503020000020004"/>
                <a:ea typeface="TT Interphases" panose="02000503020000020004"/>
                <a:cs typeface="TT Interphases" panose="02000503020000020004"/>
                <a:sym typeface="TT Interphases" panose="02000503020000020004"/>
              </a:rPr>
              <a:t>This report analyzes lung cancer severity using patient data that includes lifestyle factors, symptoms, genetic risk, and environmental exposures. The data shows clear separation between Low, Medium, and High severity levels. Strong predictors such as smoking, shortness of breath, wheezing, genetic risk, and obesity rise consistently with severity. Statistical tests confirm significant differences across groups. Machine learning models reach high accuracy because the dataset has structured patterns with clean class boundaries. These insights support faster screening and better identification of high‑risk patients.</a:t>
            </a:r>
          </a:p>
        </p:txBody>
      </p:sp>
      <p:sp>
        <p:nvSpPr>
          <p:cNvPr id="7" name="TextBox 7"/>
          <p:cNvSpPr txBox="1"/>
          <p:nvPr/>
        </p:nvSpPr>
        <p:spPr>
          <a:xfrm>
            <a:off x="4110212" y="6301560"/>
            <a:ext cx="2693788" cy="2258700"/>
          </a:xfrm>
          <a:prstGeom prst="rect">
            <a:avLst/>
          </a:prstGeom>
        </p:spPr>
        <p:txBody>
          <a:bodyPr lIns="0" tIns="0" rIns="0" bIns="0" rtlCol="0" anchor="t">
            <a:spAutoFit/>
          </a:bodyPr>
          <a:lstStyle/>
          <a:p>
            <a:pPr marL="0" lvl="0" indent="0" algn="l">
              <a:lnSpc>
                <a:spcPts val="2275"/>
              </a:lnSpc>
            </a:pPr>
            <a:r>
              <a:rPr lang="en-US" sz="1405" u="none" strike="noStrike">
                <a:solidFill>
                  <a:srgbClr val="FFFFFF"/>
                </a:solidFill>
                <a:latin typeface="TT Interphases" panose="02000503020000020004"/>
                <a:ea typeface="TT Interphases" panose="02000503020000020004"/>
                <a:cs typeface="TT Interphases" panose="02000503020000020004"/>
                <a:sym typeface="TT Interphases" panose="02000503020000020004"/>
              </a:rPr>
              <a:t>This analysis supports healthcare professionals who need quick and reliable indicators to identify patients at higher risk of severe lung cancer. These insights help guide early intervention, improve patient triage, and support data‑driven decision making.</a:t>
            </a:r>
          </a:p>
        </p:txBody>
      </p:sp>
      <p:sp>
        <p:nvSpPr>
          <p:cNvPr id="8" name="TextBox 8"/>
          <p:cNvSpPr txBox="1"/>
          <p:nvPr/>
        </p:nvSpPr>
        <p:spPr>
          <a:xfrm>
            <a:off x="5372602" y="10132950"/>
            <a:ext cx="1651500" cy="139336"/>
          </a:xfrm>
          <a:prstGeom prst="rect">
            <a:avLst/>
          </a:prstGeom>
        </p:spPr>
        <p:txBody>
          <a:bodyPr lIns="0" tIns="0" rIns="0" bIns="0" rtlCol="0" anchor="t">
            <a:spAutoFit/>
          </a:bodyPr>
          <a:lstStyle/>
          <a:p>
            <a:pPr algn="r">
              <a:lnSpc>
                <a:spcPts val="1080"/>
              </a:lnSpc>
            </a:pPr>
            <a:r>
              <a:rPr lang="en-US" sz="800" b="1">
                <a:solidFill>
                  <a:srgbClr val="DBDBDD"/>
                </a:solidFill>
                <a:latin typeface="JetBrains Mono Medium" panose="02010609020102050004"/>
                <a:ea typeface="JetBrains Mono Medium" panose="02010609020102050004"/>
                <a:cs typeface="JetBrains Mono Medium" panose="02010609020102050004"/>
                <a:sym typeface="JetBrains Mono Medium" panose="02010609020102050004"/>
              </a:rPr>
              <a:t>1</a:t>
            </a:r>
          </a:p>
        </p:txBody>
      </p:sp>
      <p:sp>
        <p:nvSpPr>
          <p:cNvPr id="9" name="TextBox 9"/>
          <p:cNvSpPr txBox="1"/>
          <p:nvPr/>
        </p:nvSpPr>
        <p:spPr>
          <a:xfrm>
            <a:off x="535898" y="5526975"/>
            <a:ext cx="3100102" cy="377644"/>
          </a:xfrm>
          <a:prstGeom prst="rect">
            <a:avLst/>
          </a:prstGeom>
        </p:spPr>
        <p:txBody>
          <a:bodyPr lIns="0" tIns="0" rIns="0" bIns="0" rtlCol="0" anchor="t">
            <a:spAutoFit/>
          </a:bodyPr>
          <a:lstStyle/>
          <a:p>
            <a:pPr marL="0" lvl="0" indent="0" algn="l">
              <a:lnSpc>
                <a:spcPts val="3195"/>
              </a:lnSpc>
              <a:spcBef>
                <a:spcPct val="0"/>
              </a:spcBef>
            </a:pPr>
            <a:r>
              <a:rPr lang="en-US" sz="2205" b="1">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Goal</a:t>
            </a:r>
          </a:p>
        </p:txBody>
      </p:sp>
      <p:sp>
        <p:nvSpPr>
          <p:cNvPr id="10" name="TextBox 10"/>
          <p:cNvSpPr txBox="1"/>
          <p:nvPr/>
        </p:nvSpPr>
        <p:spPr>
          <a:xfrm>
            <a:off x="501387" y="6285619"/>
            <a:ext cx="3134613" cy="2262873"/>
          </a:xfrm>
          <a:prstGeom prst="rect">
            <a:avLst/>
          </a:prstGeom>
        </p:spPr>
        <p:txBody>
          <a:bodyPr lIns="0" tIns="0" rIns="0" bIns="0" rtlCol="0" anchor="t">
            <a:spAutoFit/>
          </a:bodyPr>
          <a:lstStyle/>
          <a:p>
            <a:pPr marL="0" lvl="0" indent="0" algn="l">
              <a:lnSpc>
                <a:spcPts val="2315"/>
              </a:lnSpc>
            </a:pPr>
            <a:r>
              <a:rPr lang="en-US" sz="1405">
                <a:solidFill>
                  <a:srgbClr val="FFFFFF"/>
                </a:solidFill>
                <a:latin typeface="TT Interphases" panose="02000503020000020004"/>
                <a:ea typeface="TT Interphases" panose="02000503020000020004"/>
                <a:cs typeface="TT Interphases" panose="02000503020000020004"/>
                <a:sym typeface="TT Interphases" panose="02000503020000020004"/>
              </a:rPr>
              <a:t>Th</a:t>
            </a:r>
            <a:r>
              <a:rPr lang="en-US" sz="1405" u="none" strike="noStrike">
                <a:solidFill>
                  <a:srgbClr val="FFFFFF"/>
                </a:solidFill>
                <a:latin typeface="TT Interphases" panose="02000503020000020004"/>
                <a:ea typeface="TT Interphases" panose="02000503020000020004"/>
                <a:cs typeface="TT Interphases" panose="02000503020000020004"/>
                <a:sym typeface="TT Interphases" panose="02000503020000020004"/>
              </a:rPr>
              <a:t>is project aims to identify the most important factors that influence lung cancer severity and evaluate how well different machine learning models predict the severity level. The goal is to understand the patterns in the data and determine which variables contribute most to accurate risk assessment.</a:t>
            </a:r>
          </a:p>
        </p:txBody>
      </p:sp>
      <p:sp>
        <p:nvSpPr>
          <p:cNvPr id="11" name="TextBox 11"/>
          <p:cNvSpPr txBox="1"/>
          <p:nvPr/>
        </p:nvSpPr>
        <p:spPr>
          <a:xfrm>
            <a:off x="4110212" y="5536500"/>
            <a:ext cx="3100102" cy="336435"/>
          </a:xfrm>
          <a:prstGeom prst="rect">
            <a:avLst/>
          </a:prstGeom>
        </p:spPr>
        <p:txBody>
          <a:bodyPr lIns="0" tIns="0" rIns="0" bIns="0" rtlCol="0" anchor="t">
            <a:spAutoFit/>
          </a:bodyPr>
          <a:lstStyle/>
          <a:p>
            <a:pPr marL="0" lvl="0" indent="0" algn="l">
              <a:lnSpc>
                <a:spcPts val="2905"/>
              </a:lnSpc>
              <a:spcBef>
                <a:spcPct val="0"/>
              </a:spcBef>
            </a:pPr>
            <a:r>
              <a:rPr lang="en-US" sz="2005" b="1">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Who Are We Helping?</a:t>
            </a:r>
          </a:p>
        </p:txBody>
      </p:sp>
      <p:sp>
        <p:nvSpPr>
          <p:cNvPr id="12" name="AutoShape 12"/>
          <p:cNvSpPr/>
          <p:nvPr/>
        </p:nvSpPr>
        <p:spPr>
          <a:xfrm flipH="1" flipV="1">
            <a:off x="3894603" y="6349185"/>
            <a:ext cx="0" cy="2383792"/>
          </a:xfrm>
          <a:prstGeom prst="line">
            <a:avLst/>
          </a:prstGeom>
          <a:ln w="19050" cap="flat">
            <a:solidFill>
              <a:srgbClr val="DDA2A5">
                <a:alpha val="74902"/>
              </a:srgbClr>
            </a:solidFill>
            <a:prstDash val="solid"/>
            <a:headEnd type="none" w="sm" len="sm"/>
            <a:tailEnd type="none" w="sm" len="sm"/>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0720"/>
        </a:solidFill>
        <a:effectLst/>
      </p:bgPr>
    </p:bg>
    <p:spTree>
      <p:nvGrpSpPr>
        <p:cNvPr id="1" name=""/>
        <p:cNvGrpSpPr/>
        <p:nvPr/>
      </p:nvGrpSpPr>
      <p:grpSpPr>
        <a:xfrm>
          <a:off x="0" y="0"/>
          <a:ext cx="0" cy="0"/>
          <a:chOff x="0" y="0"/>
          <a:chExt cx="0" cy="0"/>
        </a:xfrm>
      </p:grpSpPr>
      <p:sp>
        <p:nvSpPr>
          <p:cNvPr id="2" name="Freeform 2"/>
          <p:cNvSpPr/>
          <p:nvPr/>
        </p:nvSpPr>
        <p:spPr>
          <a:xfrm rot="995224">
            <a:off x="-1700350" y="2025005"/>
            <a:ext cx="7409927" cy="6641989"/>
          </a:xfrm>
          <a:custGeom>
            <a:avLst/>
            <a:gdLst/>
            <a:ahLst/>
            <a:cxnLst/>
            <a:rect l="l" t="t" r="r" b="b"/>
            <a:pathLst>
              <a:path w="7409927" h="6641989">
                <a:moveTo>
                  <a:pt x="0" y="0"/>
                </a:moveTo>
                <a:lnTo>
                  <a:pt x="7409928" y="0"/>
                </a:lnTo>
                <a:lnTo>
                  <a:pt x="7409928" y="6641990"/>
                </a:lnTo>
                <a:lnTo>
                  <a:pt x="0" y="6641990"/>
                </a:lnTo>
                <a:lnTo>
                  <a:pt x="0" y="0"/>
                </a:lnTo>
                <a:close/>
              </a:path>
            </a:pathLst>
          </a:custGeom>
          <a:blipFill>
            <a:blip r:embed="rId2">
              <a:alphaModFix amt="18999"/>
              <a:extLst>
                <a:ext uri="{96DAC541-7B7A-43D3-8B79-37D633B846F1}">
                  <asvg:svgBlip xmlns:asvg="http://schemas.microsoft.com/office/drawing/2016/SVG/main" r:embed="rId3"/>
                </a:ext>
              </a:extLst>
            </a:blip>
            <a:stretch>
              <a:fillRect/>
            </a:stretch>
          </a:blipFill>
        </p:spPr>
      </p:sp>
      <p:sp>
        <p:nvSpPr>
          <p:cNvPr id="3" name="AutoShape 3"/>
          <p:cNvSpPr/>
          <p:nvPr/>
        </p:nvSpPr>
        <p:spPr>
          <a:xfrm>
            <a:off x="535898" y="9961275"/>
            <a:ext cx="6488205" cy="0"/>
          </a:xfrm>
          <a:prstGeom prst="line">
            <a:avLst/>
          </a:prstGeom>
          <a:ln w="19050" cap="flat">
            <a:solidFill>
              <a:srgbClr val="DDA2A5">
                <a:alpha val="74902"/>
              </a:srgbClr>
            </a:solidFill>
            <a:prstDash val="solid"/>
            <a:headEnd type="none" w="sm" len="sm"/>
            <a:tailEnd type="none" w="sm" len="sm"/>
          </a:ln>
        </p:spPr>
      </p:sp>
      <p:sp>
        <p:nvSpPr>
          <p:cNvPr id="4" name="TextBox 4"/>
          <p:cNvSpPr txBox="1"/>
          <p:nvPr/>
        </p:nvSpPr>
        <p:spPr>
          <a:xfrm>
            <a:off x="431957" y="578782"/>
            <a:ext cx="6687882" cy="695358"/>
          </a:xfrm>
          <a:prstGeom prst="rect">
            <a:avLst/>
          </a:prstGeom>
        </p:spPr>
        <p:txBody>
          <a:bodyPr lIns="0" tIns="0" rIns="0" bIns="0" rtlCol="0" anchor="t">
            <a:spAutoFit/>
          </a:bodyPr>
          <a:lstStyle/>
          <a:p>
            <a:pPr algn="l">
              <a:lnSpc>
                <a:spcPts val="5130"/>
              </a:lnSpc>
            </a:pPr>
            <a:r>
              <a:rPr lang="en-US" sz="5400" spc="-216">
                <a:solidFill>
                  <a:srgbClr val="DBDBDD"/>
                </a:solidFill>
                <a:latin typeface="TT Interphases" panose="02000503020000020004"/>
                <a:ea typeface="TT Interphases" panose="02000503020000020004"/>
                <a:cs typeface="TT Interphases" panose="02000503020000020004"/>
                <a:sym typeface="TT Interphases" panose="02000503020000020004"/>
              </a:rPr>
              <a:t>The Story the Data Tells</a:t>
            </a:r>
          </a:p>
        </p:txBody>
      </p:sp>
      <p:sp>
        <p:nvSpPr>
          <p:cNvPr id="5" name="TextBox 5"/>
          <p:cNvSpPr txBox="1"/>
          <p:nvPr/>
        </p:nvSpPr>
        <p:spPr>
          <a:xfrm>
            <a:off x="535898" y="1310173"/>
            <a:ext cx="6549022" cy="8643175"/>
          </a:xfrm>
          <a:prstGeom prst="rect">
            <a:avLst/>
          </a:prstGeom>
        </p:spPr>
        <p:txBody>
          <a:bodyPr lIns="0" tIns="0" rIns="0" bIns="0" rtlCol="0" anchor="t">
            <a:spAutoFit/>
          </a:bodyPr>
          <a:lstStyle/>
          <a:p>
            <a:pPr algn="l">
              <a:lnSpc>
                <a:spcPts val="3075"/>
              </a:lnSpc>
            </a:pPr>
            <a:r>
              <a:rPr lang="en-US" sz="1715" b="1" spc="-42">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Population</a:t>
            </a:r>
          </a:p>
          <a:p>
            <a:pPr algn="l">
              <a:lnSpc>
                <a:spcPts val="2405"/>
              </a:lnSpc>
            </a:pPr>
            <a:r>
              <a:rPr lang="en-US" sz="1715" spc="-42">
                <a:solidFill>
                  <a:srgbClr val="FFFFFF"/>
                </a:solidFill>
                <a:latin typeface="TT Interphases" panose="02000503020000020004"/>
                <a:ea typeface="TT Interphases" panose="02000503020000020004"/>
                <a:cs typeface="TT Interphases" panose="02000503020000020004"/>
                <a:sym typeface="TT Interphases" panose="02000503020000020004"/>
              </a:rPr>
              <a:t>The dataset includes 1000 patients with ages ranging from 14 to 73. Most fall between 25 and 50 years old. Cancer levels are balanced across Low, Medium, and High groups.</a:t>
            </a:r>
          </a:p>
          <a:p>
            <a:pPr algn="l">
              <a:lnSpc>
                <a:spcPts val="2405"/>
              </a:lnSpc>
            </a:pPr>
            <a:endParaRPr lang="en-US" sz="1715" spc="-42">
              <a:solidFill>
                <a:srgbClr val="FFFFFF"/>
              </a:solidFill>
              <a:latin typeface="TT Interphases" panose="02000503020000020004"/>
              <a:ea typeface="TT Interphases" panose="02000503020000020004"/>
              <a:cs typeface="TT Interphases" panose="02000503020000020004"/>
              <a:sym typeface="TT Interphases" panose="02000503020000020004"/>
            </a:endParaRPr>
          </a:p>
          <a:p>
            <a:pPr algn="l">
              <a:lnSpc>
                <a:spcPts val="3075"/>
              </a:lnSpc>
            </a:pPr>
            <a:r>
              <a:rPr lang="en-US" sz="1715" b="1" spc="-42">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Risk Factors</a:t>
            </a:r>
          </a:p>
          <a:p>
            <a:pPr algn="l">
              <a:lnSpc>
                <a:spcPts val="2405"/>
              </a:lnSpc>
            </a:pPr>
            <a:r>
              <a:rPr lang="en-US" sz="1715" spc="-42">
                <a:solidFill>
                  <a:srgbClr val="FFFFFF"/>
                </a:solidFill>
                <a:latin typeface="TT Interphases" panose="02000503020000020004"/>
                <a:ea typeface="TT Interphases" panose="02000503020000020004"/>
                <a:cs typeface="TT Interphases" panose="02000503020000020004"/>
                <a:sym typeface="TT Interphases" panose="02000503020000020004"/>
              </a:rPr>
              <a:t>Risk indicators such as smoking, air pollution exposure, obesity, passive smoking, and genetic risk increase sharply with cancer severity. High‑severity cases show the highest scores across these factors.</a:t>
            </a:r>
          </a:p>
          <a:p>
            <a:pPr algn="l">
              <a:lnSpc>
                <a:spcPts val="2405"/>
              </a:lnSpc>
            </a:pPr>
            <a:endParaRPr lang="en-US" sz="1715" spc="-42">
              <a:solidFill>
                <a:srgbClr val="FFFFFF"/>
              </a:solidFill>
              <a:latin typeface="TT Interphases" panose="02000503020000020004"/>
              <a:ea typeface="TT Interphases" panose="02000503020000020004"/>
              <a:cs typeface="TT Interphases" panose="02000503020000020004"/>
              <a:sym typeface="TT Interphases" panose="02000503020000020004"/>
            </a:endParaRPr>
          </a:p>
          <a:p>
            <a:pPr algn="l">
              <a:lnSpc>
                <a:spcPts val="3075"/>
              </a:lnSpc>
            </a:pPr>
            <a:r>
              <a:rPr lang="en-US" sz="1715" b="1" spc="-42">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Symptoms</a:t>
            </a:r>
          </a:p>
          <a:p>
            <a:pPr algn="l">
              <a:lnSpc>
                <a:spcPts val="2405"/>
              </a:lnSpc>
            </a:pPr>
            <a:r>
              <a:rPr lang="en-US" sz="1715" spc="-42">
                <a:solidFill>
                  <a:srgbClr val="FFFFFF"/>
                </a:solidFill>
                <a:latin typeface="TT Interphases" panose="02000503020000020004"/>
                <a:ea typeface="TT Interphases" panose="02000503020000020004"/>
                <a:cs typeface="TT Interphases" panose="02000503020000020004"/>
                <a:sym typeface="TT Interphases" panose="02000503020000020004"/>
              </a:rPr>
              <a:t>Respiratory symptoms including shortness of breath, wheezing, coughing blood, and chest pain rise consistently from Low to Medium to High severity. High‑severity groups show the most intense symptom profiles.</a:t>
            </a:r>
          </a:p>
          <a:p>
            <a:pPr algn="l">
              <a:lnSpc>
                <a:spcPts val="2405"/>
              </a:lnSpc>
            </a:pPr>
            <a:endParaRPr lang="en-US" sz="1715" spc="-42">
              <a:solidFill>
                <a:srgbClr val="FFFFFF"/>
              </a:solidFill>
              <a:latin typeface="TT Interphases" panose="02000503020000020004"/>
              <a:ea typeface="TT Interphases" panose="02000503020000020004"/>
              <a:cs typeface="TT Interphases" panose="02000503020000020004"/>
              <a:sym typeface="TT Interphases" panose="02000503020000020004"/>
            </a:endParaRPr>
          </a:p>
          <a:p>
            <a:pPr algn="l">
              <a:lnSpc>
                <a:spcPts val="3075"/>
              </a:lnSpc>
            </a:pPr>
            <a:r>
              <a:rPr lang="en-US" sz="1715" b="1" spc="-42">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Statistical Tests</a:t>
            </a:r>
          </a:p>
          <a:p>
            <a:pPr algn="l">
              <a:lnSpc>
                <a:spcPts val="2405"/>
              </a:lnSpc>
            </a:pPr>
            <a:r>
              <a:rPr lang="en-US" sz="1715" spc="-42">
                <a:solidFill>
                  <a:srgbClr val="FFFFFF"/>
                </a:solidFill>
                <a:latin typeface="TT Interphases" panose="02000503020000020004"/>
                <a:ea typeface="TT Interphases" panose="02000503020000020004"/>
                <a:cs typeface="TT Interphases" panose="02000503020000020004"/>
                <a:sym typeface="TT Interphases" panose="02000503020000020004"/>
              </a:rPr>
              <a:t>Statistical analysis confirms strong differences between groups. Age shows significant variation across severity levels. Smoking and genetic risk have extremely strong associations with severity. Non‑parametric tests show that symptom severity differs clearly between groups.</a:t>
            </a:r>
          </a:p>
          <a:p>
            <a:pPr algn="l">
              <a:lnSpc>
                <a:spcPts val="2405"/>
              </a:lnSpc>
            </a:pPr>
            <a:endParaRPr lang="en-US" sz="1715" spc="-42">
              <a:solidFill>
                <a:srgbClr val="FFFFFF"/>
              </a:solidFill>
              <a:latin typeface="TT Interphases" panose="02000503020000020004"/>
              <a:ea typeface="TT Interphases" panose="02000503020000020004"/>
              <a:cs typeface="TT Interphases" panose="02000503020000020004"/>
              <a:sym typeface="TT Interphases" panose="02000503020000020004"/>
            </a:endParaRPr>
          </a:p>
          <a:p>
            <a:pPr algn="l">
              <a:lnSpc>
                <a:spcPts val="3075"/>
              </a:lnSpc>
            </a:pPr>
            <a:r>
              <a:rPr lang="en-US" sz="1715" b="1" spc="-42">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Models</a:t>
            </a:r>
          </a:p>
          <a:p>
            <a:pPr marL="0" lvl="0" indent="0" algn="l">
              <a:lnSpc>
                <a:spcPts val="2405"/>
              </a:lnSpc>
            </a:pPr>
            <a:r>
              <a:rPr lang="en-US" sz="1715" spc="-42">
                <a:solidFill>
                  <a:srgbClr val="FFFFFF"/>
                </a:solidFill>
                <a:latin typeface="TT Interphases" panose="02000503020000020004"/>
                <a:ea typeface="TT Interphases" panose="02000503020000020004"/>
                <a:cs typeface="TT Interphases" panose="02000503020000020004"/>
                <a:sym typeface="TT Interphases" panose="02000503020000020004"/>
              </a:rPr>
              <a:t>Multiple machine learning models were trained, and most achieved perfect classification. The clean structure of the dataset and strong separation between severity levels make prediction straightforward.</a:t>
            </a:r>
          </a:p>
          <a:p>
            <a:pPr marL="0" lvl="0" indent="0" algn="l">
              <a:lnSpc>
                <a:spcPts val="3075"/>
              </a:lnSpc>
            </a:pPr>
            <a:endParaRPr lang="en-US" sz="1715" spc="-42">
              <a:solidFill>
                <a:srgbClr val="FFFFFF"/>
              </a:solidFill>
              <a:latin typeface="TT Interphases" panose="02000503020000020004"/>
              <a:ea typeface="TT Interphases" panose="02000503020000020004"/>
              <a:cs typeface="TT Interphases" panose="02000503020000020004"/>
              <a:sym typeface="TT Interphases" panose="02000503020000020004"/>
            </a:endParaRPr>
          </a:p>
        </p:txBody>
      </p:sp>
      <p:sp>
        <p:nvSpPr>
          <p:cNvPr id="6" name="TextBox 6"/>
          <p:cNvSpPr txBox="1"/>
          <p:nvPr/>
        </p:nvSpPr>
        <p:spPr>
          <a:xfrm>
            <a:off x="5372602" y="10132950"/>
            <a:ext cx="1651500" cy="139336"/>
          </a:xfrm>
          <a:prstGeom prst="rect">
            <a:avLst/>
          </a:prstGeom>
        </p:spPr>
        <p:txBody>
          <a:bodyPr lIns="0" tIns="0" rIns="0" bIns="0" rtlCol="0" anchor="t">
            <a:spAutoFit/>
          </a:bodyPr>
          <a:lstStyle/>
          <a:p>
            <a:pPr algn="r">
              <a:lnSpc>
                <a:spcPts val="1080"/>
              </a:lnSpc>
            </a:pPr>
            <a:r>
              <a:rPr lang="en-US" sz="800" b="1">
                <a:solidFill>
                  <a:srgbClr val="DBDBDD"/>
                </a:solidFill>
                <a:latin typeface="JetBrains Mono Medium" panose="02010609020102050004"/>
                <a:ea typeface="JetBrains Mono Medium" panose="02010609020102050004"/>
                <a:cs typeface="JetBrains Mono Medium" panose="02010609020102050004"/>
                <a:sym typeface="JetBrains Mono Medium" panose="02010609020102050004"/>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12346" y="2488360"/>
            <a:ext cx="6488205" cy="0"/>
          </a:xfrm>
          <a:prstGeom prst="line">
            <a:avLst/>
          </a:prstGeom>
          <a:ln w="19050" cap="flat">
            <a:solidFill>
              <a:srgbClr val="D0121F">
                <a:alpha val="74902"/>
              </a:srgbClr>
            </a:solidFill>
            <a:prstDash val="solid"/>
            <a:headEnd type="none" w="sm" len="sm"/>
            <a:tailEnd type="none" w="sm" len="sm"/>
          </a:ln>
        </p:spPr>
      </p:sp>
      <p:sp>
        <p:nvSpPr>
          <p:cNvPr id="3" name="TextBox 3"/>
          <p:cNvSpPr txBox="1"/>
          <p:nvPr/>
        </p:nvSpPr>
        <p:spPr>
          <a:xfrm>
            <a:off x="508898" y="470233"/>
            <a:ext cx="6480000" cy="695358"/>
          </a:xfrm>
          <a:prstGeom prst="rect">
            <a:avLst/>
          </a:prstGeom>
        </p:spPr>
        <p:txBody>
          <a:bodyPr lIns="0" tIns="0" rIns="0" bIns="0" rtlCol="0" anchor="t">
            <a:spAutoFit/>
          </a:bodyPr>
          <a:lstStyle/>
          <a:p>
            <a:pPr algn="l">
              <a:lnSpc>
                <a:spcPts val="5130"/>
              </a:lnSpc>
            </a:pPr>
            <a:r>
              <a:rPr lang="en-US" sz="5400" spc="-216">
                <a:solidFill>
                  <a:srgbClr val="080720"/>
                </a:solidFill>
                <a:latin typeface="TT Interphases" panose="02000503020000020004"/>
                <a:ea typeface="TT Interphases" panose="02000503020000020004"/>
                <a:cs typeface="TT Interphases" panose="02000503020000020004"/>
                <a:sym typeface="TT Interphases" panose="02000503020000020004"/>
              </a:rPr>
              <a:t>Decision Tree Insights</a:t>
            </a:r>
          </a:p>
        </p:txBody>
      </p:sp>
      <p:sp>
        <p:nvSpPr>
          <p:cNvPr id="4" name="TextBox 4"/>
          <p:cNvSpPr txBox="1"/>
          <p:nvPr/>
        </p:nvSpPr>
        <p:spPr>
          <a:xfrm>
            <a:off x="508898" y="1302035"/>
            <a:ext cx="6295102" cy="962025"/>
          </a:xfrm>
          <a:prstGeom prst="rect">
            <a:avLst/>
          </a:prstGeom>
        </p:spPr>
        <p:txBody>
          <a:bodyPr lIns="0" tIns="0" rIns="0" bIns="0" rtlCol="0" anchor="t">
            <a:spAutoFit/>
          </a:bodyPr>
          <a:lstStyle/>
          <a:p>
            <a:pPr marL="0" lvl="0" indent="0" algn="l">
              <a:lnSpc>
                <a:spcPts val="1920"/>
              </a:lnSpc>
            </a:pPr>
            <a:r>
              <a:rPr lang="en-US" sz="1600" spc="-39">
                <a:solidFill>
                  <a:srgbClr val="110E5F"/>
                </a:solidFill>
                <a:latin typeface="TT Interphases" panose="02000503020000020004"/>
                <a:ea typeface="TT Interphases" panose="02000503020000020004"/>
                <a:cs typeface="TT Interphases" panose="02000503020000020004"/>
                <a:sym typeface="TT Interphases" panose="02000503020000020004"/>
              </a:rPr>
              <a:t>The decision tree provides a clear and interpretable view of how different factors contribute to lung cancer severity. Each decision split organizes patients based on strong predictors such as obesity, wheezing, snoring, air pollution, and dust allergy. The tree structure reveals several</a:t>
            </a:r>
          </a:p>
        </p:txBody>
      </p:sp>
      <p:sp>
        <p:nvSpPr>
          <p:cNvPr id="5" name="TextBox 5"/>
          <p:cNvSpPr txBox="1"/>
          <p:nvPr/>
        </p:nvSpPr>
        <p:spPr>
          <a:xfrm>
            <a:off x="5372602" y="10132950"/>
            <a:ext cx="1651500" cy="139277"/>
          </a:xfrm>
          <a:prstGeom prst="rect">
            <a:avLst/>
          </a:prstGeom>
        </p:spPr>
        <p:txBody>
          <a:bodyPr lIns="0" tIns="0" rIns="0" bIns="0" rtlCol="0" anchor="t">
            <a:spAutoFit/>
          </a:bodyPr>
          <a:lstStyle/>
          <a:p>
            <a:pPr algn="r">
              <a:lnSpc>
                <a:spcPts val="1080"/>
              </a:lnSpc>
            </a:pPr>
            <a:r>
              <a:rPr lang="en-US" sz="800" b="1">
                <a:solidFill>
                  <a:srgbClr val="080720"/>
                </a:solidFill>
                <a:latin typeface="JetBrains Mono Medium" panose="02010609020102050004"/>
                <a:ea typeface="JetBrains Mono Medium" panose="02010609020102050004"/>
                <a:cs typeface="JetBrains Mono Medium" panose="02010609020102050004"/>
                <a:sym typeface="JetBrains Mono Medium" panose="02010609020102050004"/>
              </a:rPr>
              <a:t>3</a:t>
            </a:r>
          </a:p>
        </p:txBody>
      </p:sp>
      <p:sp>
        <p:nvSpPr>
          <p:cNvPr id="6" name="TextBox 6"/>
          <p:cNvSpPr txBox="1"/>
          <p:nvPr/>
        </p:nvSpPr>
        <p:spPr>
          <a:xfrm>
            <a:off x="535898" y="6144620"/>
            <a:ext cx="6426000" cy="4007380"/>
          </a:xfrm>
          <a:prstGeom prst="rect">
            <a:avLst/>
          </a:prstGeom>
        </p:spPr>
        <p:txBody>
          <a:bodyPr lIns="0" tIns="0" rIns="0" bIns="0" rtlCol="0" anchor="t">
            <a:spAutoFit/>
          </a:bodyPr>
          <a:lstStyle/>
          <a:p>
            <a:pPr algn="l">
              <a:lnSpc>
                <a:spcPts val="1505"/>
              </a:lnSpc>
            </a:pPr>
            <a:r>
              <a:rPr lang="en-US" sz="1300">
                <a:solidFill>
                  <a:srgbClr val="040646"/>
                </a:solidFill>
                <a:latin typeface="Aptos" panose="020B0004020202020204"/>
                <a:ea typeface="Aptos" panose="020B0004020202020204"/>
                <a:cs typeface="Aptos" panose="020B0004020202020204"/>
                <a:sym typeface="Aptos" panose="020B0004020202020204"/>
              </a:rPr>
              <a:t>patterns:</a:t>
            </a:r>
          </a:p>
          <a:p>
            <a:pPr marL="280670" lvl="1" indent="-140335" algn="l">
              <a:lnSpc>
                <a:spcPts val="1505"/>
              </a:lnSpc>
              <a:buFont typeface="Arial" panose="020B0604020202020204"/>
              <a:buChar char="•"/>
            </a:pPr>
            <a:r>
              <a:rPr lang="en-US" sz="1300" b="1">
                <a:solidFill>
                  <a:srgbClr val="040646"/>
                </a:solidFill>
                <a:latin typeface="Aptos Bold" panose="020B0004020202020204"/>
                <a:ea typeface="Aptos Bold" panose="020B0004020202020204"/>
                <a:cs typeface="Aptos Bold" panose="020B0004020202020204"/>
                <a:sym typeface="Aptos Bold" panose="020B0004020202020204"/>
              </a:rPr>
              <a:t>High severity appears when obesity is high (&gt;=7)</a:t>
            </a:r>
            <a:r>
              <a:rPr lang="en-US" sz="1300">
                <a:solidFill>
                  <a:srgbClr val="040646"/>
                </a:solidFill>
                <a:latin typeface="Aptos" panose="020B0004020202020204"/>
                <a:ea typeface="Aptos" panose="020B0004020202020204"/>
                <a:cs typeface="Aptos" panose="020B0004020202020204"/>
                <a:sym typeface="Aptos" panose="020B0004020202020204"/>
              </a:rPr>
              <a:t>. At this root split, 92 percent of cases fall into the High category, showing that extreme obesity is a major risk indicator.</a:t>
            </a:r>
          </a:p>
          <a:p>
            <a:pPr marL="280670" lvl="1" indent="-140335" algn="l">
              <a:lnSpc>
                <a:spcPts val="1505"/>
              </a:lnSpc>
              <a:buFont typeface="Arial" panose="020B0604020202020204"/>
              <a:buChar char="•"/>
            </a:pPr>
            <a:r>
              <a:rPr lang="en-US" sz="1300" b="1">
                <a:solidFill>
                  <a:srgbClr val="040646"/>
                </a:solidFill>
                <a:latin typeface="Aptos Bold" panose="020B0004020202020204"/>
                <a:ea typeface="Aptos Bold" panose="020B0004020202020204"/>
                <a:cs typeface="Aptos Bold" panose="020B0004020202020204"/>
                <a:sym typeface="Aptos Bold" panose="020B0004020202020204"/>
              </a:rPr>
              <a:t>When obesity is lower, symptoms like wheezing and snoring become decisive</a:t>
            </a:r>
            <a:r>
              <a:rPr lang="en-US" sz="1300">
                <a:solidFill>
                  <a:srgbClr val="040646"/>
                </a:solidFill>
                <a:latin typeface="Aptos" panose="020B0004020202020204"/>
                <a:ea typeface="Aptos" panose="020B0004020202020204"/>
                <a:cs typeface="Aptos" panose="020B0004020202020204"/>
                <a:sym typeface="Aptos" panose="020B0004020202020204"/>
              </a:rPr>
              <a:t>. If wheezing is below 5 and obesity is under 5, most patients fall into the Low group.</a:t>
            </a:r>
          </a:p>
          <a:p>
            <a:pPr marL="280670" lvl="1" indent="-140335" algn="l">
              <a:lnSpc>
                <a:spcPts val="1505"/>
              </a:lnSpc>
              <a:buFont typeface="Arial" panose="020B0604020202020204"/>
              <a:buChar char="•"/>
            </a:pPr>
            <a:r>
              <a:rPr lang="en-US" sz="1300" b="1">
                <a:solidFill>
                  <a:srgbClr val="040646"/>
                </a:solidFill>
                <a:latin typeface="Aptos Bold" panose="020B0004020202020204"/>
                <a:ea typeface="Aptos Bold" panose="020B0004020202020204"/>
                <a:cs typeface="Aptos Bold" panose="020B0004020202020204"/>
                <a:sym typeface="Aptos Bold" panose="020B0004020202020204"/>
              </a:rPr>
              <a:t>High air pollution levels shift classifications toward Medium and High severity</a:t>
            </a:r>
            <a:r>
              <a:rPr lang="en-US" sz="1300">
                <a:solidFill>
                  <a:srgbClr val="040646"/>
                </a:solidFill>
                <a:latin typeface="Aptos" panose="020B0004020202020204"/>
                <a:ea typeface="Aptos" panose="020B0004020202020204"/>
                <a:cs typeface="Aptos" panose="020B0004020202020204"/>
                <a:sym typeface="Aptos" panose="020B0004020202020204"/>
              </a:rPr>
              <a:t>. At multiple splits, air pollution scores above 5 or 3 increase the proportions of Medium and High categories.</a:t>
            </a:r>
          </a:p>
          <a:p>
            <a:pPr marL="280670" lvl="1" indent="-140335" algn="l">
              <a:lnSpc>
                <a:spcPts val="1505"/>
              </a:lnSpc>
              <a:buFont typeface="Arial" panose="020B0604020202020204"/>
              <a:buChar char="•"/>
            </a:pPr>
            <a:r>
              <a:rPr lang="en-US" sz="1300" b="1">
                <a:solidFill>
                  <a:srgbClr val="040646"/>
                </a:solidFill>
                <a:latin typeface="Aptos Bold" panose="020B0004020202020204"/>
                <a:ea typeface="Aptos Bold" panose="020B0004020202020204"/>
                <a:cs typeface="Aptos Bold" panose="020B0004020202020204"/>
                <a:sym typeface="Aptos Bold" panose="020B0004020202020204"/>
              </a:rPr>
              <a:t>Dust allergy below 3 is strongly associated with Medium severity</a:t>
            </a:r>
            <a:r>
              <a:rPr lang="en-US" sz="1300">
                <a:solidFill>
                  <a:srgbClr val="040646"/>
                </a:solidFill>
                <a:latin typeface="Aptos" panose="020B0004020202020204"/>
                <a:ea typeface="Aptos" panose="020B0004020202020204"/>
                <a:cs typeface="Aptos" panose="020B0004020202020204"/>
                <a:sym typeface="Aptos" panose="020B0004020202020204"/>
              </a:rPr>
              <a:t>, where Medium reaches up to 96 percent.</a:t>
            </a:r>
          </a:p>
          <a:p>
            <a:pPr algn="l">
              <a:lnSpc>
                <a:spcPts val="1505"/>
              </a:lnSpc>
            </a:pPr>
            <a:r>
              <a:rPr lang="en-US" sz="1300">
                <a:solidFill>
                  <a:srgbClr val="040646"/>
                </a:solidFill>
                <a:latin typeface="Aptos" panose="020B0004020202020204"/>
                <a:ea typeface="Aptos" panose="020B0004020202020204"/>
                <a:cs typeface="Aptos" panose="020B0004020202020204"/>
                <a:sym typeface="Aptos" panose="020B0004020202020204"/>
              </a:rPr>
              <a:t>Each node shows the distribution of High, Low, and Medium cases. For example, a node displaying .06 .75 .19 means:</a:t>
            </a:r>
          </a:p>
          <a:p>
            <a:pPr marL="280670" lvl="1" indent="-140335" algn="l">
              <a:lnSpc>
                <a:spcPts val="1505"/>
              </a:lnSpc>
              <a:buFont typeface="Arial" panose="020B0604020202020204"/>
              <a:buChar char="•"/>
            </a:pPr>
            <a:r>
              <a:rPr lang="en-US" sz="1300">
                <a:solidFill>
                  <a:srgbClr val="040646"/>
                </a:solidFill>
                <a:latin typeface="Aptos" panose="020B0004020202020204"/>
                <a:ea typeface="Aptos" panose="020B0004020202020204"/>
                <a:cs typeface="Aptos" panose="020B0004020202020204"/>
                <a:sym typeface="Aptos" panose="020B0004020202020204"/>
              </a:rPr>
              <a:t>6 percent High</a:t>
            </a:r>
          </a:p>
          <a:p>
            <a:pPr marL="280670" lvl="1" indent="-140335" algn="l">
              <a:lnSpc>
                <a:spcPts val="1505"/>
              </a:lnSpc>
              <a:buFont typeface="Arial" panose="020B0604020202020204"/>
              <a:buChar char="•"/>
            </a:pPr>
            <a:r>
              <a:rPr lang="en-US" sz="1300">
                <a:solidFill>
                  <a:srgbClr val="040646"/>
                </a:solidFill>
                <a:latin typeface="Aptos" panose="020B0004020202020204"/>
                <a:ea typeface="Aptos" panose="020B0004020202020204"/>
                <a:cs typeface="Aptos" panose="020B0004020202020204"/>
                <a:sym typeface="Aptos" panose="020B0004020202020204"/>
              </a:rPr>
              <a:t>75 percent Low</a:t>
            </a:r>
          </a:p>
          <a:p>
            <a:pPr marL="280670" lvl="1" indent="-140335" algn="l">
              <a:lnSpc>
                <a:spcPts val="1505"/>
              </a:lnSpc>
              <a:buFont typeface="Arial" panose="020B0604020202020204"/>
              <a:buChar char="•"/>
            </a:pPr>
            <a:r>
              <a:rPr lang="en-US" sz="1300">
                <a:solidFill>
                  <a:srgbClr val="040646"/>
                </a:solidFill>
                <a:latin typeface="Aptos" panose="020B0004020202020204"/>
                <a:ea typeface="Aptos" panose="020B0004020202020204"/>
                <a:cs typeface="Aptos" panose="020B0004020202020204"/>
                <a:sym typeface="Aptos" panose="020B0004020202020204"/>
              </a:rPr>
              <a:t>19 percent Medium</a:t>
            </a:r>
          </a:p>
          <a:p>
            <a:pPr algn="l">
              <a:lnSpc>
                <a:spcPts val="1505"/>
              </a:lnSpc>
            </a:pPr>
            <a:r>
              <a:rPr lang="en-US" sz="1300">
                <a:solidFill>
                  <a:srgbClr val="040646"/>
                </a:solidFill>
                <a:latin typeface="Aptos" panose="020B0004020202020204"/>
                <a:ea typeface="Aptos" panose="020B0004020202020204"/>
                <a:cs typeface="Aptos" panose="020B0004020202020204"/>
                <a:sym typeface="Aptos" panose="020B0004020202020204"/>
              </a:rPr>
              <a:t>This helps explain why the predicted class is chosen. The percentage at the bottom of each node shows how many patients fall into that node relative to the entire dataset.</a:t>
            </a:r>
          </a:p>
          <a:p>
            <a:pPr marL="0" lvl="0" indent="0" algn="l">
              <a:lnSpc>
                <a:spcPts val="1505"/>
              </a:lnSpc>
            </a:pPr>
            <a:r>
              <a:rPr lang="en-US" sz="1300">
                <a:solidFill>
                  <a:srgbClr val="040646"/>
                </a:solidFill>
                <a:latin typeface="Aptos" panose="020B0004020202020204"/>
                <a:ea typeface="Aptos" panose="020B0004020202020204"/>
                <a:cs typeface="Aptos" panose="020B0004020202020204"/>
                <a:sym typeface="Aptos" panose="020B0004020202020204"/>
              </a:rPr>
              <a:t>Overall, the decision tree confirms the importance of lifestyle factors and respiratory symptoms in determining severity. It highlights clear boundaries between severity levels, supporting the strong performance of the models.</a:t>
            </a:r>
          </a:p>
        </p:txBody>
      </p:sp>
      <p:sp>
        <p:nvSpPr>
          <p:cNvPr id="7" name="Freeform 7"/>
          <p:cNvSpPr/>
          <p:nvPr/>
        </p:nvSpPr>
        <p:spPr>
          <a:xfrm>
            <a:off x="756000" y="2488360"/>
            <a:ext cx="5625898" cy="3727759"/>
          </a:xfrm>
          <a:custGeom>
            <a:avLst/>
            <a:gdLst/>
            <a:ahLst/>
            <a:cxnLst/>
            <a:rect l="l" t="t" r="r" b="b"/>
            <a:pathLst>
              <a:path w="5625898" h="3727759">
                <a:moveTo>
                  <a:pt x="0" y="0"/>
                </a:moveTo>
                <a:lnTo>
                  <a:pt x="5625898" y="0"/>
                </a:lnTo>
                <a:lnTo>
                  <a:pt x="5625898" y="3727759"/>
                </a:lnTo>
                <a:lnTo>
                  <a:pt x="0" y="3727759"/>
                </a:lnTo>
                <a:lnTo>
                  <a:pt x="0" y="0"/>
                </a:lnTo>
                <a:close/>
              </a:path>
            </a:pathLst>
          </a:custGeom>
          <a:blipFill>
            <a:blip r:embed="rId2"/>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273383" y="6289425"/>
            <a:ext cx="7013233" cy="4656327"/>
          </a:xfrm>
          <a:custGeom>
            <a:avLst/>
            <a:gdLst/>
            <a:ahLst/>
            <a:cxnLst/>
            <a:rect l="l" t="t" r="r" b="b"/>
            <a:pathLst>
              <a:path w="7013233" h="4656327">
                <a:moveTo>
                  <a:pt x="7013234" y="0"/>
                </a:moveTo>
                <a:lnTo>
                  <a:pt x="0" y="0"/>
                </a:lnTo>
                <a:lnTo>
                  <a:pt x="0" y="4656327"/>
                </a:lnTo>
                <a:lnTo>
                  <a:pt x="7013234" y="4656327"/>
                </a:lnTo>
                <a:lnTo>
                  <a:pt x="7013234" y="0"/>
                </a:lnTo>
                <a:close/>
              </a:path>
            </a:pathLst>
          </a:custGeom>
          <a:blipFill>
            <a:blip r:embed="rId2">
              <a:alphaModFix amt="56000"/>
            </a:blip>
            <a:stretch>
              <a:fillRect b="-20682"/>
            </a:stretch>
          </a:blipFill>
        </p:spPr>
      </p:sp>
      <p:sp>
        <p:nvSpPr>
          <p:cNvPr id="3" name="Freeform 3"/>
          <p:cNvSpPr/>
          <p:nvPr/>
        </p:nvSpPr>
        <p:spPr>
          <a:xfrm>
            <a:off x="3826172" y="222037"/>
            <a:ext cx="3651334" cy="3145064"/>
          </a:xfrm>
          <a:custGeom>
            <a:avLst/>
            <a:gdLst/>
            <a:ahLst/>
            <a:cxnLst/>
            <a:rect l="l" t="t" r="r" b="b"/>
            <a:pathLst>
              <a:path w="3651334" h="3145064">
                <a:moveTo>
                  <a:pt x="0" y="0"/>
                </a:moveTo>
                <a:lnTo>
                  <a:pt x="3651334" y="0"/>
                </a:lnTo>
                <a:lnTo>
                  <a:pt x="3651334" y="3145063"/>
                </a:lnTo>
                <a:lnTo>
                  <a:pt x="0" y="3145063"/>
                </a:lnTo>
                <a:lnTo>
                  <a:pt x="0" y="0"/>
                </a:lnTo>
                <a:close/>
              </a:path>
            </a:pathLst>
          </a:custGeom>
          <a:blipFill>
            <a:blip r:embed="rId3"/>
            <a:stretch>
              <a:fillRect l="-22928" t="-8362" r="-17936"/>
            </a:stretch>
          </a:blipFill>
        </p:spPr>
      </p:sp>
      <p:grpSp>
        <p:nvGrpSpPr>
          <p:cNvPr id="4" name="Group 4"/>
          <p:cNvGrpSpPr/>
          <p:nvPr/>
        </p:nvGrpSpPr>
        <p:grpSpPr>
          <a:xfrm>
            <a:off x="217323" y="395053"/>
            <a:ext cx="3103292" cy="2587123"/>
            <a:chOff x="0" y="0"/>
            <a:chExt cx="1112150" cy="927166"/>
          </a:xfrm>
        </p:grpSpPr>
        <p:sp>
          <p:nvSpPr>
            <p:cNvPr id="5" name="Freeform 5"/>
            <p:cNvSpPr/>
            <p:nvPr/>
          </p:nvSpPr>
          <p:spPr>
            <a:xfrm>
              <a:off x="0" y="0"/>
              <a:ext cx="1112150" cy="927166"/>
            </a:xfrm>
            <a:custGeom>
              <a:avLst/>
              <a:gdLst/>
              <a:ahLst/>
              <a:cxnLst/>
              <a:rect l="l" t="t" r="r" b="b"/>
              <a:pathLst>
                <a:path w="1112150" h="927166">
                  <a:moveTo>
                    <a:pt x="19958" y="0"/>
                  </a:moveTo>
                  <a:lnTo>
                    <a:pt x="1092192" y="0"/>
                  </a:lnTo>
                  <a:cubicBezTo>
                    <a:pt x="1097485" y="0"/>
                    <a:pt x="1102562" y="2103"/>
                    <a:pt x="1106304" y="5846"/>
                  </a:cubicBezTo>
                  <a:cubicBezTo>
                    <a:pt x="1110047" y="9588"/>
                    <a:pt x="1112150" y="14665"/>
                    <a:pt x="1112150" y="19958"/>
                  </a:cubicBezTo>
                  <a:lnTo>
                    <a:pt x="1112150" y="907208"/>
                  </a:lnTo>
                  <a:cubicBezTo>
                    <a:pt x="1112150" y="918231"/>
                    <a:pt x="1103214" y="927166"/>
                    <a:pt x="1092192" y="927166"/>
                  </a:cubicBezTo>
                  <a:lnTo>
                    <a:pt x="19958" y="927166"/>
                  </a:lnTo>
                  <a:cubicBezTo>
                    <a:pt x="8935" y="927166"/>
                    <a:pt x="0" y="918231"/>
                    <a:pt x="0" y="907208"/>
                  </a:cubicBezTo>
                  <a:lnTo>
                    <a:pt x="0" y="19958"/>
                  </a:lnTo>
                  <a:cubicBezTo>
                    <a:pt x="0" y="8935"/>
                    <a:pt x="8935" y="0"/>
                    <a:pt x="19958" y="0"/>
                  </a:cubicBezTo>
                  <a:close/>
                </a:path>
              </a:pathLst>
            </a:custGeom>
            <a:solidFill>
              <a:srgbClr val="D0121F"/>
            </a:solidFill>
            <a:ln w="9525" cap="sq">
              <a:solidFill>
                <a:srgbClr val="5566B8"/>
              </a:solidFill>
              <a:prstDash val="solid"/>
              <a:miter/>
            </a:ln>
          </p:spPr>
        </p:sp>
        <p:sp>
          <p:nvSpPr>
            <p:cNvPr id="6" name="TextBox 6"/>
            <p:cNvSpPr txBox="1"/>
            <p:nvPr/>
          </p:nvSpPr>
          <p:spPr>
            <a:xfrm>
              <a:off x="0" y="-28575"/>
              <a:ext cx="1112150" cy="955741"/>
            </a:xfrm>
            <a:prstGeom prst="rect">
              <a:avLst/>
            </a:prstGeom>
          </p:spPr>
          <p:txBody>
            <a:bodyPr lIns="50800" tIns="50800" rIns="50800" bIns="50800" rtlCol="0" anchor="ctr"/>
            <a:lstStyle/>
            <a:p>
              <a:pPr marL="0" lvl="0" indent="0" algn="ctr">
                <a:lnSpc>
                  <a:spcPts val="1600"/>
                </a:lnSpc>
                <a:spcBef>
                  <a:spcPct val="0"/>
                </a:spcBef>
              </a:pPr>
              <a:endParaRPr/>
            </a:p>
          </p:txBody>
        </p:sp>
      </p:grpSp>
      <p:sp>
        <p:nvSpPr>
          <p:cNvPr id="7" name="Freeform 7"/>
          <p:cNvSpPr/>
          <p:nvPr/>
        </p:nvSpPr>
        <p:spPr>
          <a:xfrm>
            <a:off x="402329" y="664838"/>
            <a:ext cx="182324" cy="182324"/>
          </a:xfrm>
          <a:custGeom>
            <a:avLst/>
            <a:gdLst/>
            <a:ahLst/>
            <a:cxnLst/>
            <a:rect l="l" t="t" r="r" b="b"/>
            <a:pathLst>
              <a:path w="182324" h="182324">
                <a:moveTo>
                  <a:pt x="0" y="0"/>
                </a:moveTo>
                <a:lnTo>
                  <a:pt x="182324" y="0"/>
                </a:lnTo>
                <a:lnTo>
                  <a:pt x="182324" y="182324"/>
                </a:lnTo>
                <a:lnTo>
                  <a:pt x="0" y="1823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217323" y="3525101"/>
            <a:ext cx="6428093" cy="1550000"/>
            <a:chOff x="0" y="0"/>
            <a:chExt cx="1937628" cy="467218"/>
          </a:xfrm>
        </p:grpSpPr>
        <p:sp>
          <p:nvSpPr>
            <p:cNvPr id="9" name="Freeform 9"/>
            <p:cNvSpPr/>
            <p:nvPr/>
          </p:nvSpPr>
          <p:spPr>
            <a:xfrm>
              <a:off x="0" y="0"/>
              <a:ext cx="1937628" cy="467218"/>
            </a:xfrm>
            <a:custGeom>
              <a:avLst/>
              <a:gdLst/>
              <a:ahLst/>
              <a:cxnLst/>
              <a:rect l="l" t="t" r="r" b="b"/>
              <a:pathLst>
                <a:path w="1937628" h="467218">
                  <a:moveTo>
                    <a:pt x="9635" y="0"/>
                  </a:moveTo>
                  <a:lnTo>
                    <a:pt x="1927993" y="0"/>
                  </a:lnTo>
                  <a:cubicBezTo>
                    <a:pt x="1930549" y="0"/>
                    <a:pt x="1932999" y="1015"/>
                    <a:pt x="1934806" y="2822"/>
                  </a:cubicBezTo>
                  <a:cubicBezTo>
                    <a:pt x="1936613" y="4629"/>
                    <a:pt x="1937628" y="7080"/>
                    <a:pt x="1937628" y="9635"/>
                  </a:cubicBezTo>
                  <a:lnTo>
                    <a:pt x="1937628" y="457583"/>
                  </a:lnTo>
                  <a:cubicBezTo>
                    <a:pt x="1937628" y="460139"/>
                    <a:pt x="1936613" y="462589"/>
                    <a:pt x="1934806" y="464396"/>
                  </a:cubicBezTo>
                  <a:cubicBezTo>
                    <a:pt x="1932999" y="466203"/>
                    <a:pt x="1930549" y="467218"/>
                    <a:pt x="1927993" y="467218"/>
                  </a:cubicBezTo>
                  <a:lnTo>
                    <a:pt x="9635" y="467218"/>
                  </a:lnTo>
                  <a:cubicBezTo>
                    <a:pt x="7080" y="467218"/>
                    <a:pt x="4629" y="466203"/>
                    <a:pt x="2822" y="464396"/>
                  </a:cubicBezTo>
                  <a:cubicBezTo>
                    <a:pt x="1015" y="462589"/>
                    <a:pt x="0" y="460139"/>
                    <a:pt x="0" y="457583"/>
                  </a:cubicBezTo>
                  <a:lnTo>
                    <a:pt x="0" y="9635"/>
                  </a:lnTo>
                  <a:cubicBezTo>
                    <a:pt x="0" y="7080"/>
                    <a:pt x="1015" y="4629"/>
                    <a:pt x="2822" y="2822"/>
                  </a:cubicBezTo>
                  <a:cubicBezTo>
                    <a:pt x="4629" y="1015"/>
                    <a:pt x="7080" y="0"/>
                    <a:pt x="9635" y="0"/>
                  </a:cubicBezTo>
                  <a:close/>
                </a:path>
              </a:pathLst>
            </a:custGeom>
            <a:solidFill>
              <a:srgbClr val="D0121F"/>
            </a:solidFill>
            <a:ln w="9525" cap="sq">
              <a:solidFill>
                <a:srgbClr val="5566B8"/>
              </a:solidFill>
              <a:prstDash val="solid"/>
              <a:miter/>
            </a:ln>
          </p:spPr>
        </p:sp>
        <p:sp>
          <p:nvSpPr>
            <p:cNvPr id="10" name="TextBox 10"/>
            <p:cNvSpPr txBox="1"/>
            <p:nvPr/>
          </p:nvSpPr>
          <p:spPr>
            <a:xfrm>
              <a:off x="0" y="-28575"/>
              <a:ext cx="1937628" cy="495793"/>
            </a:xfrm>
            <a:prstGeom prst="rect">
              <a:avLst/>
            </a:prstGeom>
          </p:spPr>
          <p:txBody>
            <a:bodyPr lIns="50800" tIns="50800" rIns="50800" bIns="50800" rtlCol="0" anchor="ctr"/>
            <a:lstStyle/>
            <a:p>
              <a:pPr marL="0" lvl="0" indent="0" algn="ctr">
                <a:lnSpc>
                  <a:spcPts val="1600"/>
                </a:lnSpc>
                <a:spcBef>
                  <a:spcPct val="0"/>
                </a:spcBef>
              </a:pPr>
              <a:endParaRPr/>
            </a:p>
          </p:txBody>
        </p:sp>
      </p:grpSp>
      <p:sp>
        <p:nvSpPr>
          <p:cNvPr id="11" name="Freeform 11"/>
          <p:cNvSpPr/>
          <p:nvPr/>
        </p:nvSpPr>
        <p:spPr>
          <a:xfrm>
            <a:off x="330861" y="3660434"/>
            <a:ext cx="142936" cy="142936"/>
          </a:xfrm>
          <a:custGeom>
            <a:avLst/>
            <a:gdLst/>
            <a:ahLst/>
            <a:cxnLst/>
            <a:rect l="l" t="t" r="r" b="b"/>
            <a:pathLst>
              <a:path w="142936" h="142936">
                <a:moveTo>
                  <a:pt x="0" y="0"/>
                </a:moveTo>
                <a:lnTo>
                  <a:pt x="142936" y="0"/>
                </a:lnTo>
                <a:lnTo>
                  <a:pt x="142936" y="142936"/>
                </a:lnTo>
                <a:lnTo>
                  <a:pt x="0" y="142936"/>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12" name="AutoShape 12"/>
          <p:cNvSpPr/>
          <p:nvPr/>
        </p:nvSpPr>
        <p:spPr>
          <a:xfrm>
            <a:off x="535898" y="9961275"/>
            <a:ext cx="6488205" cy="0"/>
          </a:xfrm>
          <a:prstGeom prst="line">
            <a:avLst/>
          </a:prstGeom>
          <a:ln w="19050" cap="flat">
            <a:solidFill>
              <a:srgbClr val="D0121F">
                <a:alpha val="74902"/>
              </a:srgbClr>
            </a:solidFill>
            <a:prstDash val="solid"/>
            <a:headEnd type="none" w="sm" len="sm"/>
            <a:tailEnd type="none" w="sm" len="sm"/>
          </a:ln>
        </p:spPr>
      </p:sp>
      <p:sp>
        <p:nvSpPr>
          <p:cNvPr id="13" name="Freeform 13"/>
          <p:cNvSpPr/>
          <p:nvPr/>
        </p:nvSpPr>
        <p:spPr>
          <a:xfrm>
            <a:off x="156433" y="5151300"/>
            <a:ext cx="7339477" cy="4638372"/>
          </a:xfrm>
          <a:custGeom>
            <a:avLst/>
            <a:gdLst/>
            <a:ahLst/>
            <a:cxnLst/>
            <a:rect l="l" t="t" r="r" b="b"/>
            <a:pathLst>
              <a:path w="7339477" h="4638372">
                <a:moveTo>
                  <a:pt x="0" y="0"/>
                </a:moveTo>
                <a:lnTo>
                  <a:pt x="7339478" y="0"/>
                </a:lnTo>
                <a:lnTo>
                  <a:pt x="7339478" y="4638372"/>
                </a:lnTo>
                <a:lnTo>
                  <a:pt x="0" y="4638372"/>
                </a:lnTo>
                <a:lnTo>
                  <a:pt x="0" y="0"/>
                </a:lnTo>
                <a:close/>
              </a:path>
            </a:pathLst>
          </a:custGeom>
          <a:blipFill>
            <a:blip r:embed="rId6"/>
            <a:stretch>
              <a:fillRect t="-4846"/>
            </a:stretch>
          </a:blipFill>
        </p:spPr>
      </p:sp>
      <p:sp>
        <p:nvSpPr>
          <p:cNvPr id="14" name="Freeform 14"/>
          <p:cNvSpPr/>
          <p:nvPr/>
        </p:nvSpPr>
        <p:spPr>
          <a:xfrm>
            <a:off x="55307" y="2477351"/>
            <a:ext cx="3024000" cy="971460"/>
          </a:xfrm>
          <a:custGeom>
            <a:avLst/>
            <a:gdLst/>
            <a:ahLst/>
            <a:cxnLst/>
            <a:rect l="l" t="t" r="r" b="b"/>
            <a:pathLst>
              <a:path w="3024000" h="971460">
                <a:moveTo>
                  <a:pt x="0" y="0"/>
                </a:moveTo>
                <a:lnTo>
                  <a:pt x="3024000" y="0"/>
                </a:lnTo>
                <a:lnTo>
                  <a:pt x="3024000" y="971460"/>
                </a:lnTo>
                <a:lnTo>
                  <a:pt x="0" y="9714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5" name="TextBox 15"/>
          <p:cNvSpPr txBox="1"/>
          <p:nvPr/>
        </p:nvSpPr>
        <p:spPr>
          <a:xfrm>
            <a:off x="649982" y="663094"/>
            <a:ext cx="2620676" cy="199910"/>
          </a:xfrm>
          <a:prstGeom prst="rect">
            <a:avLst/>
          </a:prstGeom>
        </p:spPr>
        <p:txBody>
          <a:bodyPr lIns="0" tIns="0" rIns="0" bIns="0" rtlCol="0" anchor="t">
            <a:spAutoFit/>
          </a:bodyPr>
          <a:lstStyle/>
          <a:p>
            <a:pPr marL="0" lvl="0" indent="0" algn="just">
              <a:lnSpc>
                <a:spcPts val="1745"/>
              </a:lnSpc>
              <a:spcBef>
                <a:spcPct val="0"/>
              </a:spcBef>
            </a:pPr>
            <a:r>
              <a:rPr lang="en-US" sz="1205" b="1">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1. Distribution of Cancer Levels</a:t>
            </a:r>
          </a:p>
        </p:txBody>
      </p:sp>
      <p:sp>
        <p:nvSpPr>
          <p:cNvPr id="16" name="TextBox 16"/>
          <p:cNvSpPr txBox="1"/>
          <p:nvPr/>
        </p:nvSpPr>
        <p:spPr>
          <a:xfrm>
            <a:off x="458631" y="1083211"/>
            <a:ext cx="2620676" cy="1394140"/>
          </a:xfrm>
          <a:prstGeom prst="rect">
            <a:avLst/>
          </a:prstGeom>
        </p:spPr>
        <p:txBody>
          <a:bodyPr lIns="0" tIns="0" rIns="0" bIns="0" rtlCol="0" anchor="t">
            <a:spAutoFit/>
          </a:bodyPr>
          <a:lstStyle/>
          <a:p>
            <a:pPr algn="just">
              <a:lnSpc>
                <a:spcPts val="1600"/>
              </a:lnSpc>
            </a:pPr>
            <a:r>
              <a:rPr lang="en-US" sz="1105">
                <a:solidFill>
                  <a:srgbClr val="FFFFFF"/>
                </a:solidFill>
                <a:latin typeface="TT Interphases" panose="02000503020000020004"/>
                <a:ea typeface="TT Interphases" panose="02000503020000020004"/>
                <a:cs typeface="TT Interphases" panose="02000503020000020004"/>
                <a:sym typeface="TT Interphases" panose="02000503020000020004"/>
              </a:rPr>
              <a:t>The dataset is evenly distributed across Low, Medium, and High cancer levels. High has the largest count, but the differences are small. This balanced distribution reduces bias during model training.</a:t>
            </a:r>
          </a:p>
          <a:p>
            <a:pPr marL="0" lvl="0" indent="0" algn="just">
              <a:lnSpc>
                <a:spcPts val="1600"/>
              </a:lnSpc>
              <a:spcBef>
                <a:spcPct val="0"/>
              </a:spcBef>
            </a:pPr>
            <a:endParaRPr lang="en-US" sz="1105">
              <a:solidFill>
                <a:srgbClr val="FFFFFF"/>
              </a:solidFill>
              <a:latin typeface="TT Interphases" panose="02000503020000020004"/>
              <a:ea typeface="TT Interphases" panose="02000503020000020004"/>
              <a:cs typeface="TT Interphases" panose="02000503020000020004"/>
              <a:sym typeface="TT Interphases" panose="02000503020000020004"/>
            </a:endParaRPr>
          </a:p>
        </p:txBody>
      </p:sp>
      <p:sp>
        <p:nvSpPr>
          <p:cNvPr id="17" name="TextBox 17"/>
          <p:cNvSpPr txBox="1"/>
          <p:nvPr/>
        </p:nvSpPr>
        <p:spPr>
          <a:xfrm>
            <a:off x="564959" y="3641384"/>
            <a:ext cx="3115772" cy="199909"/>
          </a:xfrm>
          <a:prstGeom prst="rect">
            <a:avLst/>
          </a:prstGeom>
        </p:spPr>
        <p:txBody>
          <a:bodyPr lIns="0" tIns="0" rIns="0" bIns="0" rtlCol="0" anchor="t">
            <a:spAutoFit/>
          </a:bodyPr>
          <a:lstStyle/>
          <a:p>
            <a:pPr marL="0" lvl="0" indent="0" algn="just">
              <a:lnSpc>
                <a:spcPts val="1745"/>
              </a:lnSpc>
              <a:spcBef>
                <a:spcPct val="0"/>
              </a:spcBef>
            </a:pPr>
            <a:r>
              <a:rPr lang="en-US" sz="1205" b="1">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2. Age </a:t>
            </a:r>
            <a:r>
              <a:rPr lang="en-US" sz="1205" b="1" u="none" strike="noStrike">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and Cancer Severity</a:t>
            </a:r>
          </a:p>
        </p:txBody>
      </p:sp>
      <p:sp>
        <p:nvSpPr>
          <p:cNvPr id="18" name="TextBox 18"/>
          <p:cNvSpPr txBox="1"/>
          <p:nvPr/>
        </p:nvSpPr>
        <p:spPr>
          <a:xfrm>
            <a:off x="473797" y="3996922"/>
            <a:ext cx="5813485" cy="857234"/>
          </a:xfrm>
          <a:prstGeom prst="rect">
            <a:avLst/>
          </a:prstGeom>
        </p:spPr>
        <p:txBody>
          <a:bodyPr lIns="0" tIns="0" rIns="0" bIns="0" rtlCol="0" anchor="t">
            <a:spAutoFit/>
          </a:bodyPr>
          <a:lstStyle/>
          <a:p>
            <a:pPr marL="0" lvl="0" indent="0" algn="just">
              <a:lnSpc>
                <a:spcPts val="1745"/>
              </a:lnSpc>
              <a:spcBef>
                <a:spcPct val="0"/>
              </a:spcBef>
            </a:pPr>
            <a:r>
              <a:rPr lang="en-US" sz="1205" u="none" strike="noStrike">
                <a:solidFill>
                  <a:srgbClr val="FFFFFF"/>
                </a:solidFill>
                <a:latin typeface="TT Interphases" panose="02000503020000020004"/>
                <a:ea typeface="TT Interphases" panose="02000503020000020004"/>
                <a:cs typeface="TT Interphases" panose="02000503020000020004"/>
                <a:sym typeface="TT Interphases" panose="02000503020000020004"/>
              </a:rPr>
              <a:t>Most patients are between 25 and 50 years old. ANOVA shows a significant difference in age across cancer levels (p = 0.00328). Highseverity cases tend to appear in older age groups, while Lowseverity cases are more common in younger adults.</a:t>
            </a:r>
          </a:p>
          <a:p>
            <a:pPr marL="0" lvl="0" indent="0" algn="just">
              <a:lnSpc>
                <a:spcPts val="1745"/>
              </a:lnSpc>
              <a:spcBef>
                <a:spcPct val="0"/>
              </a:spcBef>
            </a:pPr>
            <a:endParaRPr lang="en-US" sz="1205" u="none" strike="noStrike">
              <a:solidFill>
                <a:srgbClr val="FFFFFF"/>
              </a:solidFill>
              <a:latin typeface="TT Interphases" panose="02000503020000020004"/>
              <a:ea typeface="TT Interphases" panose="02000503020000020004"/>
              <a:cs typeface="TT Interphases" panose="02000503020000020004"/>
              <a:sym typeface="TT Interphases" panose="02000503020000020004"/>
            </a:endParaRPr>
          </a:p>
        </p:txBody>
      </p:sp>
      <p:sp>
        <p:nvSpPr>
          <p:cNvPr id="19" name="TextBox 19"/>
          <p:cNvSpPr txBox="1"/>
          <p:nvPr/>
        </p:nvSpPr>
        <p:spPr>
          <a:xfrm>
            <a:off x="5372602" y="10132950"/>
            <a:ext cx="1651500" cy="139277"/>
          </a:xfrm>
          <a:prstGeom prst="rect">
            <a:avLst/>
          </a:prstGeom>
        </p:spPr>
        <p:txBody>
          <a:bodyPr lIns="0" tIns="0" rIns="0" bIns="0" rtlCol="0" anchor="t">
            <a:spAutoFit/>
          </a:bodyPr>
          <a:lstStyle/>
          <a:p>
            <a:pPr algn="r">
              <a:lnSpc>
                <a:spcPts val="1080"/>
              </a:lnSpc>
            </a:pPr>
            <a:r>
              <a:rPr lang="en-US" sz="800" b="1">
                <a:solidFill>
                  <a:srgbClr val="080720"/>
                </a:solidFill>
                <a:latin typeface="JetBrains Mono Medium" panose="02010609020102050004"/>
                <a:ea typeface="JetBrains Mono Medium" panose="02010609020102050004"/>
                <a:cs typeface="JetBrains Mono Medium" panose="02010609020102050004"/>
                <a:sym typeface="JetBrains Mono Medium" panose="02010609020102050004"/>
              </a:rPr>
              <a:t>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720"/>
        </a:solidFill>
        <a:effectLst/>
      </p:bgPr>
    </p:bg>
    <p:spTree>
      <p:nvGrpSpPr>
        <p:cNvPr id="1" name=""/>
        <p:cNvGrpSpPr/>
        <p:nvPr/>
      </p:nvGrpSpPr>
      <p:grpSpPr>
        <a:xfrm>
          <a:off x="0" y="0"/>
          <a:ext cx="0" cy="0"/>
          <a:chOff x="0" y="0"/>
          <a:chExt cx="0" cy="0"/>
        </a:xfrm>
      </p:grpSpPr>
      <p:sp>
        <p:nvSpPr>
          <p:cNvPr id="2" name="AutoShape 2"/>
          <p:cNvSpPr/>
          <p:nvPr/>
        </p:nvSpPr>
        <p:spPr>
          <a:xfrm>
            <a:off x="535898" y="10029106"/>
            <a:ext cx="6488205" cy="0"/>
          </a:xfrm>
          <a:prstGeom prst="line">
            <a:avLst/>
          </a:prstGeom>
          <a:ln w="19050" cap="flat">
            <a:solidFill>
              <a:srgbClr val="DBDBDD">
                <a:alpha val="74902"/>
              </a:srgbClr>
            </a:solidFill>
            <a:prstDash val="solid"/>
            <a:headEnd type="none" w="sm" len="sm"/>
            <a:tailEnd type="none" w="sm" len="sm"/>
          </a:ln>
        </p:spPr>
      </p:sp>
      <p:grpSp>
        <p:nvGrpSpPr>
          <p:cNvPr id="3" name="Group 3"/>
          <p:cNvGrpSpPr/>
          <p:nvPr>
            <p:custDataLst>
              <p:tags r:id="rId1"/>
            </p:custDataLst>
          </p:nvPr>
        </p:nvGrpSpPr>
        <p:grpSpPr>
          <a:xfrm>
            <a:off x="544102" y="184716"/>
            <a:ext cx="6480000" cy="1689354"/>
            <a:chOff x="0" y="0"/>
            <a:chExt cx="2322286" cy="605426"/>
          </a:xfrm>
        </p:grpSpPr>
        <p:sp>
          <p:nvSpPr>
            <p:cNvPr id="4" name="Freeform 4"/>
            <p:cNvSpPr/>
            <p:nvPr>
              <p:custDataLst>
                <p:tags r:id="rId14"/>
              </p:custDataLst>
            </p:nvPr>
          </p:nvSpPr>
          <p:spPr>
            <a:xfrm>
              <a:off x="0" y="0"/>
              <a:ext cx="2322286" cy="605426"/>
            </a:xfrm>
            <a:custGeom>
              <a:avLst/>
              <a:gdLst/>
              <a:ahLst/>
              <a:cxnLst/>
              <a:rect l="l" t="t" r="r" b="b"/>
              <a:pathLst>
                <a:path w="2322286" h="605426">
                  <a:moveTo>
                    <a:pt x="9558" y="0"/>
                  </a:moveTo>
                  <a:lnTo>
                    <a:pt x="2312728" y="0"/>
                  </a:lnTo>
                  <a:cubicBezTo>
                    <a:pt x="2315263" y="0"/>
                    <a:pt x="2317694" y="1007"/>
                    <a:pt x="2319486" y="2799"/>
                  </a:cubicBezTo>
                  <a:cubicBezTo>
                    <a:pt x="2321279" y="4592"/>
                    <a:pt x="2322286" y="7023"/>
                    <a:pt x="2322286" y="9558"/>
                  </a:cubicBezTo>
                  <a:lnTo>
                    <a:pt x="2322286" y="595868"/>
                  </a:lnTo>
                  <a:cubicBezTo>
                    <a:pt x="2322286" y="598403"/>
                    <a:pt x="2321279" y="600834"/>
                    <a:pt x="2319486" y="602627"/>
                  </a:cubicBezTo>
                  <a:cubicBezTo>
                    <a:pt x="2317694" y="604419"/>
                    <a:pt x="2315263" y="605426"/>
                    <a:pt x="2312728" y="605426"/>
                  </a:cubicBezTo>
                  <a:lnTo>
                    <a:pt x="9558" y="605426"/>
                  </a:lnTo>
                  <a:cubicBezTo>
                    <a:pt x="7023" y="605426"/>
                    <a:pt x="4592" y="604419"/>
                    <a:pt x="2799" y="602627"/>
                  </a:cubicBezTo>
                  <a:cubicBezTo>
                    <a:pt x="1007" y="600834"/>
                    <a:pt x="0" y="598403"/>
                    <a:pt x="0" y="595868"/>
                  </a:cubicBezTo>
                  <a:lnTo>
                    <a:pt x="0" y="9558"/>
                  </a:lnTo>
                  <a:cubicBezTo>
                    <a:pt x="0" y="7023"/>
                    <a:pt x="1007" y="4592"/>
                    <a:pt x="2799" y="2799"/>
                  </a:cubicBezTo>
                  <a:cubicBezTo>
                    <a:pt x="4592" y="1007"/>
                    <a:pt x="7023" y="0"/>
                    <a:pt x="9558" y="0"/>
                  </a:cubicBezTo>
                  <a:close/>
                </a:path>
              </a:pathLst>
            </a:custGeom>
            <a:solidFill>
              <a:srgbClr val="2F2B6F"/>
            </a:solidFill>
            <a:ln w="9525" cap="sq">
              <a:solidFill>
                <a:srgbClr val="2F2B6F"/>
              </a:solidFill>
              <a:prstDash val="solid"/>
              <a:miter/>
            </a:ln>
          </p:spPr>
        </p:sp>
        <p:sp>
          <p:nvSpPr>
            <p:cNvPr id="5" name="TextBox 5"/>
            <p:cNvSpPr txBox="1"/>
            <p:nvPr/>
          </p:nvSpPr>
          <p:spPr>
            <a:xfrm>
              <a:off x="0" y="-28575"/>
              <a:ext cx="2322286" cy="634001"/>
            </a:xfrm>
            <a:prstGeom prst="rect">
              <a:avLst/>
            </a:prstGeom>
          </p:spPr>
          <p:txBody>
            <a:bodyPr lIns="50800" tIns="50800" rIns="50800" bIns="50800" rtlCol="0" anchor="ctr"/>
            <a:lstStyle/>
            <a:p>
              <a:pPr algn="ctr">
                <a:lnSpc>
                  <a:spcPts val="1600"/>
                </a:lnSpc>
              </a:pPr>
              <a:endParaRPr/>
            </a:p>
          </p:txBody>
        </p:sp>
      </p:grpSp>
      <p:sp>
        <p:nvSpPr>
          <p:cNvPr id="6" name="TextBox 6"/>
          <p:cNvSpPr txBox="1"/>
          <p:nvPr>
            <p:custDataLst>
              <p:tags r:id="rId2"/>
            </p:custDataLst>
          </p:nvPr>
        </p:nvSpPr>
        <p:spPr>
          <a:xfrm>
            <a:off x="703014" y="342820"/>
            <a:ext cx="3795890" cy="514284"/>
          </a:xfrm>
          <a:prstGeom prst="rect">
            <a:avLst/>
          </a:prstGeom>
        </p:spPr>
        <p:txBody>
          <a:bodyPr lIns="0" tIns="0" rIns="0" bIns="0" rtlCol="0" anchor="t">
            <a:spAutoFit/>
          </a:bodyPr>
          <a:lstStyle/>
          <a:p>
            <a:pPr algn="l">
              <a:lnSpc>
                <a:spcPts val="2040"/>
              </a:lnSpc>
            </a:pPr>
            <a:r>
              <a:rPr lang="en-US" sz="1700" b="1" spc="-42">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3. Smoking Severity and Cancer Level</a:t>
            </a:r>
          </a:p>
          <a:p>
            <a:pPr marL="0" lvl="0" indent="0" algn="l">
              <a:lnSpc>
                <a:spcPts val="2040"/>
              </a:lnSpc>
            </a:pPr>
            <a:endParaRPr lang="en-US" sz="1700" b="1" spc="-42">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endParaRPr>
          </a:p>
        </p:txBody>
      </p:sp>
      <p:grpSp>
        <p:nvGrpSpPr>
          <p:cNvPr id="7" name="Group 7"/>
          <p:cNvGrpSpPr/>
          <p:nvPr>
            <p:custDataLst>
              <p:tags r:id="rId3"/>
            </p:custDataLst>
          </p:nvPr>
        </p:nvGrpSpPr>
        <p:grpSpPr>
          <a:xfrm>
            <a:off x="544102" y="1756415"/>
            <a:ext cx="5267087" cy="3670445"/>
            <a:chOff x="0" y="0"/>
            <a:chExt cx="1887605" cy="1315405"/>
          </a:xfrm>
        </p:grpSpPr>
        <p:sp>
          <p:nvSpPr>
            <p:cNvPr id="8" name="Freeform 8"/>
            <p:cNvSpPr/>
            <p:nvPr>
              <p:custDataLst>
                <p:tags r:id="rId13"/>
              </p:custDataLst>
            </p:nvPr>
          </p:nvSpPr>
          <p:spPr>
            <a:xfrm>
              <a:off x="0" y="0"/>
              <a:ext cx="1887605" cy="1315405"/>
            </a:xfrm>
            <a:custGeom>
              <a:avLst/>
              <a:gdLst/>
              <a:ahLst/>
              <a:cxnLst/>
              <a:rect l="l" t="t" r="r" b="b"/>
              <a:pathLst>
                <a:path w="1887605" h="1315405">
                  <a:moveTo>
                    <a:pt x="11759" y="0"/>
                  </a:moveTo>
                  <a:lnTo>
                    <a:pt x="1875846" y="0"/>
                  </a:lnTo>
                  <a:cubicBezTo>
                    <a:pt x="1878965" y="0"/>
                    <a:pt x="1881956" y="1239"/>
                    <a:pt x="1884161" y="3444"/>
                  </a:cubicBezTo>
                  <a:cubicBezTo>
                    <a:pt x="1886366" y="5649"/>
                    <a:pt x="1887605" y="8640"/>
                    <a:pt x="1887605" y="11759"/>
                  </a:cubicBezTo>
                  <a:lnTo>
                    <a:pt x="1887605" y="1303646"/>
                  </a:lnTo>
                  <a:cubicBezTo>
                    <a:pt x="1887605" y="1310140"/>
                    <a:pt x="1882341" y="1315405"/>
                    <a:pt x="1875846" y="1315405"/>
                  </a:cubicBezTo>
                  <a:lnTo>
                    <a:pt x="11759" y="1315405"/>
                  </a:lnTo>
                  <a:cubicBezTo>
                    <a:pt x="5265" y="1315405"/>
                    <a:pt x="0" y="1310140"/>
                    <a:pt x="0" y="1303646"/>
                  </a:cubicBezTo>
                  <a:lnTo>
                    <a:pt x="0" y="11759"/>
                  </a:lnTo>
                  <a:cubicBezTo>
                    <a:pt x="0" y="5265"/>
                    <a:pt x="5265" y="0"/>
                    <a:pt x="11759" y="0"/>
                  </a:cubicBezTo>
                  <a:close/>
                </a:path>
              </a:pathLst>
            </a:custGeom>
            <a:solidFill>
              <a:srgbClr val="2F2B6F"/>
            </a:solidFill>
            <a:ln w="9525" cap="sq">
              <a:solidFill>
                <a:srgbClr val="2F2B6F"/>
              </a:solidFill>
              <a:prstDash val="solid"/>
              <a:miter/>
            </a:ln>
          </p:spPr>
        </p:sp>
        <p:sp>
          <p:nvSpPr>
            <p:cNvPr id="9" name="TextBox 9"/>
            <p:cNvSpPr txBox="1"/>
            <p:nvPr/>
          </p:nvSpPr>
          <p:spPr>
            <a:xfrm>
              <a:off x="0" y="-28575"/>
              <a:ext cx="1887605" cy="1343980"/>
            </a:xfrm>
            <a:prstGeom prst="rect">
              <a:avLst/>
            </a:prstGeom>
          </p:spPr>
          <p:txBody>
            <a:bodyPr lIns="50800" tIns="50800" rIns="50800" bIns="50800" rtlCol="0" anchor="ctr"/>
            <a:lstStyle/>
            <a:p>
              <a:pPr algn="ctr">
                <a:lnSpc>
                  <a:spcPts val="1600"/>
                </a:lnSpc>
              </a:pPr>
              <a:endParaRPr/>
            </a:p>
          </p:txBody>
        </p:sp>
      </p:grpSp>
      <p:sp>
        <p:nvSpPr>
          <p:cNvPr id="10" name="TextBox 10"/>
          <p:cNvSpPr txBox="1"/>
          <p:nvPr>
            <p:custDataLst>
              <p:tags r:id="rId4"/>
            </p:custDataLst>
          </p:nvPr>
        </p:nvSpPr>
        <p:spPr>
          <a:xfrm>
            <a:off x="698912" y="727425"/>
            <a:ext cx="6048000" cy="1252257"/>
          </a:xfrm>
          <a:prstGeom prst="rect">
            <a:avLst/>
          </a:prstGeom>
        </p:spPr>
        <p:txBody>
          <a:bodyPr lIns="0" tIns="0" rIns="0" bIns="0" rtlCol="0" anchor="t">
            <a:spAutoFit/>
          </a:bodyPr>
          <a:lstStyle/>
          <a:p>
            <a:pPr algn="just">
              <a:lnSpc>
                <a:spcPts val="2035"/>
              </a:lnSpc>
            </a:pPr>
            <a:r>
              <a:rPr lang="en-US" sz="1405">
                <a:solidFill>
                  <a:srgbClr val="FFFFFF"/>
                </a:solidFill>
                <a:latin typeface="TT Interphases" panose="02000503020000020004"/>
                <a:ea typeface="TT Interphases" panose="02000503020000020004"/>
                <a:cs typeface="TT Interphases" panose="02000503020000020004"/>
                <a:sym typeface="TT Interphases" panose="02000503020000020004"/>
              </a:rPr>
              <a:t>Smoking shows a very strong association with cancer severity (Chisquare p &lt; 2.2e16). Low and Medium levels dominate smoking scores from 1 to 4. High severity becomes dominant at scores 6, 7, and 8, where High reaches more than 85 percent of cases.</a:t>
            </a:r>
          </a:p>
          <a:p>
            <a:pPr marL="0" lvl="0" indent="0" algn="just">
              <a:lnSpc>
                <a:spcPts val="1890"/>
              </a:lnSpc>
              <a:spcBef>
                <a:spcPct val="0"/>
              </a:spcBef>
            </a:pPr>
            <a:endParaRPr lang="en-US" sz="1405">
              <a:solidFill>
                <a:srgbClr val="FFFFFF"/>
              </a:solidFill>
              <a:latin typeface="TT Interphases" panose="02000503020000020004"/>
              <a:ea typeface="TT Interphases" panose="02000503020000020004"/>
              <a:cs typeface="TT Interphases" panose="02000503020000020004"/>
              <a:sym typeface="TT Interphases" panose="02000503020000020004"/>
            </a:endParaRPr>
          </a:p>
        </p:txBody>
      </p:sp>
      <p:sp>
        <p:nvSpPr>
          <p:cNvPr id="11" name="Freeform 11"/>
          <p:cNvSpPr/>
          <p:nvPr>
            <p:custDataLst>
              <p:tags r:id="rId5"/>
            </p:custDataLst>
          </p:nvPr>
        </p:nvSpPr>
        <p:spPr>
          <a:xfrm>
            <a:off x="698912" y="1979682"/>
            <a:ext cx="4905454" cy="3260215"/>
          </a:xfrm>
          <a:custGeom>
            <a:avLst/>
            <a:gdLst/>
            <a:ahLst/>
            <a:cxnLst/>
            <a:rect l="l" t="t" r="r" b="b"/>
            <a:pathLst>
              <a:path w="4905454" h="3260215">
                <a:moveTo>
                  <a:pt x="0" y="0"/>
                </a:moveTo>
                <a:lnTo>
                  <a:pt x="4905453" y="0"/>
                </a:lnTo>
                <a:lnTo>
                  <a:pt x="4905453" y="3260215"/>
                </a:lnTo>
                <a:lnTo>
                  <a:pt x="0" y="3260215"/>
                </a:lnTo>
                <a:lnTo>
                  <a:pt x="0" y="0"/>
                </a:lnTo>
                <a:close/>
              </a:path>
            </a:pathLst>
          </a:custGeom>
          <a:blipFill>
            <a:blip r:embed="rId16"/>
            <a:stretch>
              <a:fillRect l="-151" r="-151"/>
            </a:stretch>
          </a:blipFill>
        </p:spPr>
      </p:sp>
      <p:grpSp>
        <p:nvGrpSpPr>
          <p:cNvPr id="12" name="Group 12"/>
          <p:cNvGrpSpPr/>
          <p:nvPr>
            <p:custDataLst>
              <p:tags r:id="rId6"/>
            </p:custDataLst>
          </p:nvPr>
        </p:nvGrpSpPr>
        <p:grpSpPr>
          <a:xfrm>
            <a:off x="544102" y="5276842"/>
            <a:ext cx="6480000" cy="1588088"/>
            <a:chOff x="0" y="0"/>
            <a:chExt cx="2624807" cy="643275"/>
          </a:xfrm>
        </p:grpSpPr>
        <p:sp>
          <p:nvSpPr>
            <p:cNvPr id="13" name="Freeform 13"/>
            <p:cNvSpPr/>
            <p:nvPr>
              <p:custDataLst>
                <p:tags r:id="rId12"/>
              </p:custDataLst>
            </p:nvPr>
          </p:nvSpPr>
          <p:spPr>
            <a:xfrm>
              <a:off x="0" y="0"/>
              <a:ext cx="2624806" cy="643275"/>
            </a:xfrm>
            <a:custGeom>
              <a:avLst/>
              <a:gdLst/>
              <a:ahLst/>
              <a:cxnLst/>
              <a:rect l="l" t="t" r="r" b="b"/>
              <a:pathLst>
                <a:path w="2624806" h="643275">
                  <a:moveTo>
                    <a:pt x="9558" y="0"/>
                  </a:moveTo>
                  <a:lnTo>
                    <a:pt x="2615249" y="0"/>
                  </a:lnTo>
                  <a:cubicBezTo>
                    <a:pt x="2617783" y="0"/>
                    <a:pt x="2620214" y="1007"/>
                    <a:pt x="2622007" y="2799"/>
                  </a:cubicBezTo>
                  <a:cubicBezTo>
                    <a:pt x="2623800" y="4592"/>
                    <a:pt x="2624806" y="7023"/>
                    <a:pt x="2624806" y="9558"/>
                  </a:cubicBezTo>
                  <a:lnTo>
                    <a:pt x="2624806" y="633717"/>
                  </a:lnTo>
                  <a:cubicBezTo>
                    <a:pt x="2624806" y="638996"/>
                    <a:pt x="2620527" y="643275"/>
                    <a:pt x="2615249" y="643275"/>
                  </a:cubicBezTo>
                  <a:lnTo>
                    <a:pt x="9558" y="643275"/>
                  </a:lnTo>
                  <a:cubicBezTo>
                    <a:pt x="7023" y="643275"/>
                    <a:pt x="4592" y="642268"/>
                    <a:pt x="2799" y="640476"/>
                  </a:cubicBezTo>
                  <a:cubicBezTo>
                    <a:pt x="1007" y="638683"/>
                    <a:pt x="0" y="636252"/>
                    <a:pt x="0" y="633717"/>
                  </a:cubicBezTo>
                  <a:lnTo>
                    <a:pt x="0" y="9558"/>
                  </a:lnTo>
                  <a:cubicBezTo>
                    <a:pt x="0" y="7023"/>
                    <a:pt x="1007" y="4592"/>
                    <a:pt x="2799" y="2799"/>
                  </a:cubicBezTo>
                  <a:cubicBezTo>
                    <a:pt x="4592" y="1007"/>
                    <a:pt x="7023" y="0"/>
                    <a:pt x="9558" y="0"/>
                  </a:cubicBezTo>
                  <a:close/>
                </a:path>
              </a:pathLst>
            </a:custGeom>
            <a:solidFill>
              <a:srgbClr val="2F2B6F"/>
            </a:solidFill>
            <a:ln w="9525" cap="sq">
              <a:solidFill>
                <a:srgbClr val="2F2B6F"/>
              </a:solidFill>
              <a:prstDash val="solid"/>
              <a:miter/>
            </a:ln>
          </p:spPr>
        </p:sp>
        <p:sp>
          <p:nvSpPr>
            <p:cNvPr id="14" name="TextBox 14"/>
            <p:cNvSpPr txBox="1"/>
            <p:nvPr/>
          </p:nvSpPr>
          <p:spPr>
            <a:xfrm>
              <a:off x="0" y="-28575"/>
              <a:ext cx="2624807" cy="671850"/>
            </a:xfrm>
            <a:prstGeom prst="rect">
              <a:avLst/>
            </a:prstGeom>
          </p:spPr>
          <p:txBody>
            <a:bodyPr lIns="50800" tIns="50800" rIns="50800" bIns="50800" rtlCol="0" anchor="ctr"/>
            <a:lstStyle/>
            <a:p>
              <a:pPr algn="ctr">
                <a:lnSpc>
                  <a:spcPts val="1600"/>
                </a:lnSpc>
              </a:pPr>
              <a:endParaRPr/>
            </a:p>
          </p:txBody>
        </p:sp>
      </p:grpSp>
      <p:sp>
        <p:nvSpPr>
          <p:cNvPr id="15" name="TextBox 15"/>
          <p:cNvSpPr txBox="1"/>
          <p:nvPr>
            <p:custDataLst>
              <p:tags r:id="rId7"/>
            </p:custDataLst>
          </p:nvPr>
        </p:nvSpPr>
        <p:spPr>
          <a:xfrm>
            <a:off x="684699" y="5416724"/>
            <a:ext cx="3358397" cy="227505"/>
          </a:xfrm>
          <a:prstGeom prst="rect">
            <a:avLst/>
          </a:prstGeom>
        </p:spPr>
        <p:txBody>
          <a:bodyPr lIns="0" tIns="0" rIns="0" bIns="0" rtlCol="0" anchor="t">
            <a:spAutoFit/>
          </a:bodyPr>
          <a:lstStyle/>
          <a:p>
            <a:pPr marL="0" lvl="0" indent="0" algn="l">
              <a:lnSpc>
                <a:spcPts val="1805"/>
              </a:lnSpc>
            </a:pPr>
            <a:r>
              <a:rPr lang="en-US" sz="1505" b="1" spc="-37">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4. Genetic Risk and Cancer Level</a:t>
            </a:r>
          </a:p>
        </p:txBody>
      </p:sp>
      <p:grpSp>
        <p:nvGrpSpPr>
          <p:cNvPr id="16" name="Group 16"/>
          <p:cNvGrpSpPr/>
          <p:nvPr>
            <p:custDataLst>
              <p:tags r:id="rId8"/>
            </p:custDataLst>
          </p:nvPr>
        </p:nvGrpSpPr>
        <p:grpSpPr>
          <a:xfrm>
            <a:off x="2363897" y="6667396"/>
            <a:ext cx="4660031" cy="3247410"/>
            <a:chOff x="0" y="0"/>
            <a:chExt cx="1887605" cy="1315405"/>
          </a:xfrm>
        </p:grpSpPr>
        <p:sp>
          <p:nvSpPr>
            <p:cNvPr id="17" name="Freeform 17"/>
            <p:cNvSpPr/>
            <p:nvPr>
              <p:custDataLst>
                <p:tags r:id="rId11"/>
              </p:custDataLst>
            </p:nvPr>
          </p:nvSpPr>
          <p:spPr>
            <a:xfrm>
              <a:off x="0" y="0"/>
              <a:ext cx="1887605" cy="1315405"/>
            </a:xfrm>
            <a:custGeom>
              <a:avLst/>
              <a:gdLst/>
              <a:ahLst/>
              <a:cxnLst/>
              <a:rect l="l" t="t" r="r" b="b"/>
              <a:pathLst>
                <a:path w="1887605" h="1315405">
                  <a:moveTo>
                    <a:pt x="13291" y="0"/>
                  </a:moveTo>
                  <a:lnTo>
                    <a:pt x="1874314" y="0"/>
                  </a:lnTo>
                  <a:cubicBezTo>
                    <a:pt x="1881655" y="0"/>
                    <a:pt x="1887605" y="5950"/>
                    <a:pt x="1887605" y="13291"/>
                  </a:cubicBezTo>
                  <a:lnTo>
                    <a:pt x="1887605" y="1302114"/>
                  </a:lnTo>
                  <a:cubicBezTo>
                    <a:pt x="1887605" y="1309454"/>
                    <a:pt x="1881655" y="1315405"/>
                    <a:pt x="1874314" y="1315405"/>
                  </a:cubicBezTo>
                  <a:lnTo>
                    <a:pt x="13291" y="1315405"/>
                  </a:lnTo>
                  <a:cubicBezTo>
                    <a:pt x="5950" y="1315405"/>
                    <a:pt x="0" y="1309454"/>
                    <a:pt x="0" y="1302114"/>
                  </a:cubicBezTo>
                  <a:lnTo>
                    <a:pt x="0" y="13291"/>
                  </a:lnTo>
                  <a:cubicBezTo>
                    <a:pt x="0" y="5950"/>
                    <a:pt x="5950" y="0"/>
                    <a:pt x="13291" y="0"/>
                  </a:cubicBezTo>
                  <a:close/>
                </a:path>
              </a:pathLst>
            </a:custGeom>
            <a:solidFill>
              <a:srgbClr val="2F2B6F"/>
            </a:solidFill>
            <a:ln w="9525" cap="sq">
              <a:solidFill>
                <a:srgbClr val="2F2B6F"/>
              </a:solidFill>
              <a:prstDash val="solid"/>
              <a:miter/>
            </a:ln>
          </p:spPr>
        </p:sp>
        <p:sp>
          <p:nvSpPr>
            <p:cNvPr id="18" name="TextBox 18"/>
            <p:cNvSpPr txBox="1"/>
            <p:nvPr/>
          </p:nvSpPr>
          <p:spPr>
            <a:xfrm>
              <a:off x="0" y="-28575"/>
              <a:ext cx="1887605" cy="1343980"/>
            </a:xfrm>
            <a:prstGeom prst="rect">
              <a:avLst/>
            </a:prstGeom>
          </p:spPr>
          <p:txBody>
            <a:bodyPr lIns="50800" tIns="50800" rIns="50800" bIns="50800" rtlCol="0" anchor="ctr"/>
            <a:lstStyle/>
            <a:p>
              <a:pPr algn="ctr">
                <a:lnSpc>
                  <a:spcPts val="1600"/>
                </a:lnSpc>
              </a:pPr>
              <a:endParaRPr/>
            </a:p>
          </p:txBody>
        </p:sp>
      </p:grpSp>
      <p:sp>
        <p:nvSpPr>
          <p:cNvPr id="19" name="TextBox 19"/>
          <p:cNvSpPr txBox="1"/>
          <p:nvPr>
            <p:custDataLst>
              <p:tags r:id="rId9"/>
            </p:custDataLst>
          </p:nvPr>
        </p:nvSpPr>
        <p:spPr>
          <a:xfrm>
            <a:off x="681069" y="5753708"/>
            <a:ext cx="6159873" cy="1168380"/>
          </a:xfrm>
          <a:prstGeom prst="rect">
            <a:avLst/>
          </a:prstGeom>
        </p:spPr>
        <p:txBody>
          <a:bodyPr lIns="0" tIns="0" rIns="0" bIns="0" rtlCol="0" anchor="t">
            <a:spAutoFit/>
          </a:bodyPr>
          <a:lstStyle/>
          <a:p>
            <a:pPr algn="just">
              <a:lnSpc>
                <a:spcPts val="1945"/>
              </a:lnSpc>
            </a:pPr>
            <a:r>
              <a:rPr lang="en-US" sz="1340">
                <a:solidFill>
                  <a:srgbClr val="FFFFFF"/>
                </a:solidFill>
                <a:latin typeface="TT Interphases" panose="02000503020000020004"/>
                <a:ea typeface="TT Interphases" panose="02000503020000020004"/>
                <a:cs typeface="TT Interphases" panose="02000503020000020004"/>
                <a:sym typeface="TT Interphases" panose="02000503020000020004"/>
              </a:rPr>
              <a:t>Genetic risk is another strong predictor (Chisquare p &lt; 2.2e16). Low and Medium levels dominate scores from 1 to 3. High becomes the majority starting at score 5 and reaches full dominance at score 7. This pattern shows that genetic predisposition contributes meaningfully to severity.</a:t>
            </a:r>
          </a:p>
          <a:p>
            <a:pPr marL="0" lvl="0" indent="0" algn="just">
              <a:lnSpc>
                <a:spcPts val="1820"/>
              </a:lnSpc>
              <a:spcBef>
                <a:spcPct val="0"/>
              </a:spcBef>
            </a:pPr>
            <a:endParaRPr lang="en-US" sz="1340">
              <a:solidFill>
                <a:srgbClr val="FFFFFF"/>
              </a:solidFill>
              <a:latin typeface="TT Interphases" panose="02000503020000020004"/>
              <a:ea typeface="TT Interphases" panose="02000503020000020004"/>
              <a:cs typeface="TT Interphases" panose="02000503020000020004"/>
              <a:sym typeface="TT Interphases" panose="02000503020000020004"/>
            </a:endParaRPr>
          </a:p>
        </p:txBody>
      </p:sp>
      <p:sp>
        <p:nvSpPr>
          <p:cNvPr id="20" name="Freeform 20"/>
          <p:cNvSpPr/>
          <p:nvPr>
            <p:custDataLst>
              <p:tags r:id="rId10"/>
            </p:custDataLst>
          </p:nvPr>
        </p:nvSpPr>
        <p:spPr>
          <a:xfrm>
            <a:off x="2500864" y="6864930"/>
            <a:ext cx="4340078" cy="2884461"/>
          </a:xfrm>
          <a:custGeom>
            <a:avLst/>
            <a:gdLst/>
            <a:ahLst/>
            <a:cxnLst/>
            <a:rect l="l" t="t" r="r" b="b"/>
            <a:pathLst>
              <a:path w="4340078" h="2884461">
                <a:moveTo>
                  <a:pt x="0" y="0"/>
                </a:moveTo>
                <a:lnTo>
                  <a:pt x="4340078" y="0"/>
                </a:lnTo>
                <a:lnTo>
                  <a:pt x="4340078" y="2884461"/>
                </a:lnTo>
                <a:lnTo>
                  <a:pt x="0" y="2884461"/>
                </a:lnTo>
                <a:lnTo>
                  <a:pt x="0" y="0"/>
                </a:lnTo>
                <a:close/>
              </a:path>
            </a:pathLst>
          </a:custGeom>
          <a:blipFill rotWithShape="1">
            <a:blip r:embed="rId17"/>
            <a:stretch>
              <a:fillRect l="-151" r="-151"/>
            </a:stretch>
          </a:blipFill>
        </p:spPr>
      </p:sp>
      <p:sp>
        <p:nvSpPr>
          <p:cNvPr id="21" name="Freeform 21"/>
          <p:cNvSpPr/>
          <p:nvPr/>
        </p:nvSpPr>
        <p:spPr>
          <a:xfrm rot="-728305">
            <a:off x="-1074297" y="7474682"/>
            <a:ext cx="3082094" cy="3026056"/>
          </a:xfrm>
          <a:custGeom>
            <a:avLst/>
            <a:gdLst/>
            <a:ahLst/>
            <a:cxnLst/>
            <a:rect l="l" t="t" r="r" b="b"/>
            <a:pathLst>
              <a:path w="3082094" h="3026056">
                <a:moveTo>
                  <a:pt x="0" y="0"/>
                </a:moveTo>
                <a:lnTo>
                  <a:pt x="3082094" y="0"/>
                </a:lnTo>
                <a:lnTo>
                  <a:pt x="3082094" y="3026056"/>
                </a:lnTo>
                <a:lnTo>
                  <a:pt x="0" y="3026056"/>
                </a:lnTo>
                <a:lnTo>
                  <a:pt x="0" y="0"/>
                </a:lnTo>
                <a:close/>
              </a:path>
            </a:pathLst>
          </a:custGeom>
          <a:blipFill>
            <a:blip r:embed="rId18">
              <a:alphaModFix amt="47000"/>
              <a:extLst>
                <a:ext uri="{96DAC541-7B7A-43D3-8B79-37D633B846F1}">
                  <asvg:svgBlip xmlns:asvg="http://schemas.microsoft.com/office/drawing/2016/SVG/main" r:embed="rId19"/>
                </a:ext>
              </a:extLst>
            </a:blip>
            <a:stretch>
              <a:fillRect/>
            </a:stretch>
          </a:blipFill>
        </p:spPr>
      </p:sp>
      <p:sp>
        <p:nvSpPr>
          <p:cNvPr id="22" name="TextBox 22"/>
          <p:cNvSpPr txBox="1"/>
          <p:nvPr/>
        </p:nvSpPr>
        <p:spPr>
          <a:xfrm>
            <a:off x="5372602" y="10132950"/>
            <a:ext cx="1651500" cy="139277"/>
          </a:xfrm>
          <a:prstGeom prst="rect">
            <a:avLst/>
          </a:prstGeom>
        </p:spPr>
        <p:txBody>
          <a:bodyPr lIns="0" tIns="0" rIns="0" bIns="0" rtlCol="0" anchor="t">
            <a:spAutoFit/>
          </a:bodyPr>
          <a:lstStyle/>
          <a:p>
            <a:pPr algn="r">
              <a:lnSpc>
                <a:spcPts val="1080"/>
              </a:lnSpc>
            </a:pPr>
            <a:r>
              <a:rPr lang="en-US" sz="800" b="1">
                <a:solidFill>
                  <a:srgbClr val="DBDBDD"/>
                </a:solidFill>
                <a:latin typeface="JetBrains Mono Medium" panose="02010609020102050004"/>
                <a:ea typeface="JetBrains Mono Medium" panose="02010609020102050004"/>
                <a:cs typeface="JetBrains Mono Medium" panose="02010609020102050004"/>
                <a:sym typeface="JetBrains Mono Medium" panose="02010609020102050004"/>
              </a:rPr>
              <a:t>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35898" y="9961275"/>
            <a:ext cx="6488205" cy="0"/>
          </a:xfrm>
          <a:prstGeom prst="line">
            <a:avLst/>
          </a:prstGeom>
          <a:ln w="19050" cap="flat">
            <a:solidFill>
              <a:srgbClr val="080720">
                <a:alpha val="74902"/>
              </a:srgbClr>
            </a:solidFill>
            <a:prstDash val="solid"/>
            <a:headEnd type="none" w="sm" len="sm"/>
            <a:tailEnd type="none" w="sm" len="sm"/>
          </a:ln>
        </p:spPr>
      </p:sp>
      <p:grpSp>
        <p:nvGrpSpPr>
          <p:cNvPr id="3" name="Group 3"/>
          <p:cNvGrpSpPr/>
          <p:nvPr/>
        </p:nvGrpSpPr>
        <p:grpSpPr>
          <a:xfrm>
            <a:off x="312579" y="538669"/>
            <a:ext cx="6934842" cy="8884226"/>
            <a:chOff x="0" y="0"/>
            <a:chExt cx="2485291" cy="3183906"/>
          </a:xfrm>
        </p:grpSpPr>
        <p:sp>
          <p:nvSpPr>
            <p:cNvPr id="4" name="Freeform 4"/>
            <p:cNvSpPr/>
            <p:nvPr/>
          </p:nvSpPr>
          <p:spPr>
            <a:xfrm>
              <a:off x="0" y="0"/>
              <a:ext cx="2485291" cy="3183906"/>
            </a:xfrm>
            <a:custGeom>
              <a:avLst/>
              <a:gdLst/>
              <a:ahLst/>
              <a:cxnLst/>
              <a:rect l="l" t="t" r="r" b="b"/>
              <a:pathLst>
                <a:path w="2485291" h="3183906">
                  <a:moveTo>
                    <a:pt x="8931" y="0"/>
                  </a:moveTo>
                  <a:lnTo>
                    <a:pt x="2476360" y="0"/>
                  </a:lnTo>
                  <a:cubicBezTo>
                    <a:pt x="2481292" y="0"/>
                    <a:pt x="2485291" y="3999"/>
                    <a:pt x="2485291" y="8931"/>
                  </a:cubicBezTo>
                  <a:lnTo>
                    <a:pt x="2485291" y="3174975"/>
                  </a:lnTo>
                  <a:cubicBezTo>
                    <a:pt x="2485291" y="3179907"/>
                    <a:pt x="2481292" y="3183906"/>
                    <a:pt x="2476360" y="3183906"/>
                  </a:cubicBezTo>
                  <a:lnTo>
                    <a:pt x="8931" y="3183906"/>
                  </a:lnTo>
                  <a:cubicBezTo>
                    <a:pt x="3999" y="3183906"/>
                    <a:pt x="0" y="3179907"/>
                    <a:pt x="0" y="3174975"/>
                  </a:cubicBezTo>
                  <a:lnTo>
                    <a:pt x="0" y="8931"/>
                  </a:lnTo>
                  <a:cubicBezTo>
                    <a:pt x="0" y="3999"/>
                    <a:pt x="3999" y="0"/>
                    <a:pt x="8931" y="0"/>
                  </a:cubicBezTo>
                  <a:close/>
                </a:path>
              </a:pathLst>
            </a:custGeom>
            <a:solidFill>
              <a:srgbClr val="D0121F"/>
            </a:solidFill>
            <a:ln w="9525" cap="sq">
              <a:solidFill>
                <a:srgbClr val="5566B8"/>
              </a:solidFill>
              <a:prstDash val="solid"/>
              <a:miter/>
            </a:ln>
          </p:spPr>
        </p:sp>
        <p:sp>
          <p:nvSpPr>
            <p:cNvPr id="5" name="TextBox 5"/>
            <p:cNvSpPr txBox="1"/>
            <p:nvPr/>
          </p:nvSpPr>
          <p:spPr>
            <a:xfrm>
              <a:off x="0" y="-28575"/>
              <a:ext cx="2485291" cy="3212481"/>
            </a:xfrm>
            <a:prstGeom prst="rect">
              <a:avLst/>
            </a:prstGeom>
          </p:spPr>
          <p:txBody>
            <a:bodyPr lIns="50800" tIns="50800" rIns="50800" bIns="50800" rtlCol="0" anchor="ctr"/>
            <a:lstStyle/>
            <a:p>
              <a:pPr algn="ctr">
                <a:lnSpc>
                  <a:spcPts val="1600"/>
                </a:lnSpc>
              </a:pPr>
              <a:endParaRPr/>
            </a:p>
          </p:txBody>
        </p:sp>
      </p:grpSp>
      <p:sp>
        <p:nvSpPr>
          <p:cNvPr id="6" name="Freeform 6"/>
          <p:cNvSpPr/>
          <p:nvPr/>
        </p:nvSpPr>
        <p:spPr>
          <a:xfrm>
            <a:off x="652159" y="2053177"/>
            <a:ext cx="6302377" cy="4175998"/>
          </a:xfrm>
          <a:custGeom>
            <a:avLst/>
            <a:gdLst/>
            <a:ahLst/>
            <a:cxnLst/>
            <a:rect l="l" t="t" r="r" b="b"/>
            <a:pathLst>
              <a:path w="6302377" h="4175998">
                <a:moveTo>
                  <a:pt x="0" y="0"/>
                </a:moveTo>
                <a:lnTo>
                  <a:pt x="6302377" y="0"/>
                </a:lnTo>
                <a:lnTo>
                  <a:pt x="6302377" y="4175998"/>
                </a:lnTo>
                <a:lnTo>
                  <a:pt x="0" y="4175998"/>
                </a:lnTo>
                <a:lnTo>
                  <a:pt x="0" y="0"/>
                </a:lnTo>
                <a:close/>
              </a:path>
            </a:pathLst>
          </a:custGeom>
          <a:blipFill>
            <a:blip r:embed="rId2"/>
            <a:stretch>
              <a:fillRect/>
            </a:stretch>
          </a:blipFill>
        </p:spPr>
      </p:sp>
      <p:sp>
        <p:nvSpPr>
          <p:cNvPr id="7" name="Freeform 7"/>
          <p:cNvSpPr/>
          <p:nvPr/>
        </p:nvSpPr>
        <p:spPr>
          <a:xfrm>
            <a:off x="2971062" y="6502342"/>
            <a:ext cx="3983474" cy="2634368"/>
          </a:xfrm>
          <a:custGeom>
            <a:avLst/>
            <a:gdLst/>
            <a:ahLst/>
            <a:cxnLst/>
            <a:rect l="l" t="t" r="r" b="b"/>
            <a:pathLst>
              <a:path w="3983474" h="2634368">
                <a:moveTo>
                  <a:pt x="0" y="0"/>
                </a:moveTo>
                <a:lnTo>
                  <a:pt x="3983474" y="0"/>
                </a:lnTo>
                <a:lnTo>
                  <a:pt x="3983474" y="2634368"/>
                </a:lnTo>
                <a:lnTo>
                  <a:pt x="0" y="2634368"/>
                </a:lnTo>
                <a:lnTo>
                  <a:pt x="0" y="0"/>
                </a:lnTo>
                <a:close/>
              </a:path>
            </a:pathLst>
          </a:custGeom>
          <a:blipFill>
            <a:blip r:embed="rId3"/>
            <a:stretch>
              <a:fillRect b="-193"/>
            </a:stretch>
          </a:blipFill>
        </p:spPr>
      </p:sp>
      <p:sp>
        <p:nvSpPr>
          <p:cNvPr id="8" name="Freeform 8"/>
          <p:cNvSpPr/>
          <p:nvPr/>
        </p:nvSpPr>
        <p:spPr>
          <a:xfrm flipH="1">
            <a:off x="6389634" y="83246"/>
            <a:ext cx="1113907" cy="1969931"/>
          </a:xfrm>
          <a:custGeom>
            <a:avLst/>
            <a:gdLst/>
            <a:ahLst/>
            <a:cxnLst/>
            <a:rect l="l" t="t" r="r" b="b"/>
            <a:pathLst>
              <a:path w="1113907" h="1969931">
                <a:moveTo>
                  <a:pt x="1113906" y="0"/>
                </a:moveTo>
                <a:lnTo>
                  <a:pt x="0" y="0"/>
                </a:lnTo>
                <a:lnTo>
                  <a:pt x="0" y="1969931"/>
                </a:lnTo>
                <a:lnTo>
                  <a:pt x="1113906" y="1969931"/>
                </a:lnTo>
                <a:lnTo>
                  <a:pt x="1113906"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372602" y="10132950"/>
            <a:ext cx="1651500" cy="139277"/>
          </a:xfrm>
          <a:prstGeom prst="rect">
            <a:avLst/>
          </a:prstGeom>
        </p:spPr>
        <p:txBody>
          <a:bodyPr lIns="0" tIns="0" rIns="0" bIns="0" rtlCol="0" anchor="t">
            <a:spAutoFit/>
          </a:bodyPr>
          <a:lstStyle/>
          <a:p>
            <a:pPr algn="r">
              <a:lnSpc>
                <a:spcPts val="1080"/>
              </a:lnSpc>
            </a:pPr>
            <a:r>
              <a:rPr lang="en-US" sz="800" b="1">
                <a:solidFill>
                  <a:srgbClr val="080720"/>
                </a:solidFill>
                <a:latin typeface="JetBrains Mono Medium" panose="02010609020102050004"/>
                <a:ea typeface="JetBrains Mono Medium" panose="02010609020102050004"/>
                <a:cs typeface="JetBrains Mono Medium" panose="02010609020102050004"/>
                <a:sym typeface="JetBrains Mono Medium" panose="02010609020102050004"/>
              </a:rPr>
              <a:t>6</a:t>
            </a:r>
          </a:p>
        </p:txBody>
      </p:sp>
      <p:sp>
        <p:nvSpPr>
          <p:cNvPr id="10" name="TextBox 10"/>
          <p:cNvSpPr txBox="1"/>
          <p:nvPr/>
        </p:nvSpPr>
        <p:spPr>
          <a:xfrm>
            <a:off x="535898" y="691118"/>
            <a:ext cx="3789685" cy="247650"/>
          </a:xfrm>
          <a:prstGeom prst="rect">
            <a:avLst/>
          </a:prstGeom>
        </p:spPr>
        <p:txBody>
          <a:bodyPr lIns="0" tIns="0" rIns="0" bIns="0" rtlCol="0" anchor="t">
            <a:spAutoFit/>
          </a:bodyPr>
          <a:lstStyle/>
          <a:p>
            <a:pPr marL="0" lvl="0" indent="0" algn="l">
              <a:lnSpc>
                <a:spcPts val="1920"/>
              </a:lnSpc>
            </a:pPr>
            <a:r>
              <a:rPr lang="en-US" sz="1600" b="1" spc="-39">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5. Symptom Severity and Cancer Level</a:t>
            </a:r>
          </a:p>
        </p:txBody>
      </p:sp>
      <p:sp>
        <p:nvSpPr>
          <p:cNvPr id="11" name="TextBox 11"/>
          <p:cNvSpPr txBox="1"/>
          <p:nvPr/>
        </p:nvSpPr>
        <p:spPr>
          <a:xfrm>
            <a:off x="652159" y="1057830"/>
            <a:ext cx="6048000" cy="857234"/>
          </a:xfrm>
          <a:prstGeom prst="rect">
            <a:avLst/>
          </a:prstGeom>
        </p:spPr>
        <p:txBody>
          <a:bodyPr lIns="0" tIns="0" rIns="0" bIns="0" rtlCol="0" anchor="t">
            <a:spAutoFit/>
          </a:bodyPr>
          <a:lstStyle/>
          <a:p>
            <a:pPr marL="0" lvl="0" indent="0" algn="l">
              <a:lnSpc>
                <a:spcPts val="1745"/>
              </a:lnSpc>
              <a:spcBef>
                <a:spcPct val="0"/>
              </a:spcBef>
            </a:pPr>
            <a:r>
              <a:rPr lang="en-US" sz="1205">
                <a:solidFill>
                  <a:srgbClr val="FFFFFF"/>
                </a:solidFill>
                <a:latin typeface="TT Interphases" panose="02000503020000020004"/>
                <a:ea typeface="TT Interphases" panose="02000503020000020004"/>
                <a:cs typeface="TT Interphases" panose="02000503020000020004"/>
                <a:sym typeface="TT Interphases" panose="02000503020000020004"/>
              </a:rPr>
              <a:t>Key symptoms such as shortness of breath, wheezing, coughing blood, and chest pain increase sharply with cancer severity. Highseverity patients consistently show the highest symptom scores. These symptoms align with the clinical presentation of advanced lung disease.</a:t>
            </a:r>
          </a:p>
        </p:txBody>
      </p:sp>
      <p:sp>
        <p:nvSpPr>
          <p:cNvPr id="12" name="TextBox 12"/>
          <p:cNvSpPr txBox="1"/>
          <p:nvPr/>
        </p:nvSpPr>
        <p:spPr>
          <a:xfrm>
            <a:off x="652159" y="7103803"/>
            <a:ext cx="2154310" cy="1825950"/>
          </a:xfrm>
          <a:prstGeom prst="rect">
            <a:avLst/>
          </a:prstGeom>
        </p:spPr>
        <p:txBody>
          <a:bodyPr lIns="0" tIns="0" rIns="0" bIns="0" rtlCol="0" anchor="t">
            <a:spAutoFit/>
          </a:bodyPr>
          <a:lstStyle/>
          <a:p>
            <a:pPr algn="l">
              <a:lnSpc>
                <a:spcPts val="1850"/>
              </a:lnSpc>
            </a:pPr>
            <a:r>
              <a:rPr lang="en-US" sz="1400">
                <a:solidFill>
                  <a:srgbClr val="FFFFFF"/>
                </a:solidFill>
                <a:latin typeface="Aptos" panose="020B0004020202020204"/>
                <a:ea typeface="Aptos" panose="020B0004020202020204"/>
                <a:cs typeface="Aptos" panose="020B0004020202020204"/>
                <a:sym typeface="Aptos" panose="020B0004020202020204"/>
              </a:rPr>
              <a:t>Male patients show higher counts of Highseverity cases, while female patients show more Low and Medium cases. Gender plays a role but is not as strong a predictor as smoking or symptoms.</a:t>
            </a:r>
          </a:p>
        </p:txBody>
      </p:sp>
      <p:sp>
        <p:nvSpPr>
          <p:cNvPr id="13" name="TextBox 13"/>
          <p:cNvSpPr txBox="1"/>
          <p:nvPr/>
        </p:nvSpPr>
        <p:spPr>
          <a:xfrm>
            <a:off x="535898" y="6427528"/>
            <a:ext cx="2211005" cy="485775"/>
          </a:xfrm>
          <a:prstGeom prst="rect">
            <a:avLst/>
          </a:prstGeom>
        </p:spPr>
        <p:txBody>
          <a:bodyPr lIns="0" tIns="0" rIns="0" bIns="0" rtlCol="0" anchor="t">
            <a:spAutoFit/>
          </a:bodyPr>
          <a:lstStyle/>
          <a:p>
            <a:pPr marL="0" lvl="0" indent="0" algn="l">
              <a:lnSpc>
                <a:spcPts val="1920"/>
              </a:lnSpc>
            </a:pPr>
            <a:r>
              <a:rPr lang="en-US" sz="1600" b="1" spc="-39">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6. Gender Distribution by Cancer Level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0121F"/>
        </a:solidFill>
        <a:effectLst/>
      </p:bgPr>
    </p:bg>
    <p:spTree>
      <p:nvGrpSpPr>
        <p:cNvPr id="1" name=""/>
        <p:cNvGrpSpPr/>
        <p:nvPr/>
      </p:nvGrpSpPr>
      <p:grpSpPr>
        <a:xfrm>
          <a:off x="0" y="0"/>
          <a:ext cx="0" cy="0"/>
          <a:chOff x="0" y="0"/>
          <a:chExt cx="0" cy="0"/>
        </a:xfrm>
      </p:grpSpPr>
      <p:sp>
        <p:nvSpPr>
          <p:cNvPr id="2" name="Freeform 2"/>
          <p:cNvSpPr/>
          <p:nvPr/>
        </p:nvSpPr>
        <p:spPr>
          <a:xfrm>
            <a:off x="-1345423" y="2843385"/>
            <a:ext cx="9136708" cy="9811230"/>
          </a:xfrm>
          <a:custGeom>
            <a:avLst/>
            <a:gdLst/>
            <a:ahLst/>
            <a:cxnLst/>
            <a:rect l="l" t="t" r="r" b="b"/>
            <a:pathLst>
              <a:path w="9136708" h="9811230">
                <a:moveTo>
                  <a:pt x="0" y="0"/>
                </a:moveTo>
                <a:lnTo>
                  <a:pt x="9136708" y="0"/>
                </a:lnTo>
                <a:lnTo>
                  <a:pt x="9136708" y="9811230"/>
                </a:lnTo>
                <a:lnTo>
                  <a:pt x="0" y="9811230"/>
                </a:lnTo>
                <a:lnTo>
                  <a:pt x="0" y="0"/>
                </a:lnTo>
                <a:close/>
              </a:path>
            </a:pathLst>
          </a:custGeom>
          <a:blipFill>
            <a:blip r:embed="rId2">
              <a:alphaModFix amt="55000"/>
            </a:blip>
            <a:stretch>
              <a:fillRect/>
            </a:stretch>
          </a:blipFill>
        </p:spPr>
      </p:sp>
      <p:sp>
        <p:nvSpPr>
          <p:cNvPr id="3" name="TextBox 3"/>
          <p:cNvSpPr txBox="1"/>
          <p:nvPr/>
        </p:nvSpPr>
        <p:spPr>
          <a:xfrm>
            <a:off x="263273" y="7459677"/>
            <a:ext cx="7027978" cy="2022560"/>
          </a:xfrm>
          <a:prstGeom prst="rect">
            <a:avLst/>
          </a:prstGeom>
        </p:spPr>
        <p:txBody>
          <a:bodyPr lIns="0" tIns="0" rIns="0" bIns="0" rtlCol="0" anchor="t">
            <a:spAutoFit/>
          </a:bodyPr>
          <a:lstStyle/>
          <a:p>
            <a:pPr marL="0" lvl="0" indent="0" algn="l">
              <a:lnSpc>
                <a:spcPts val="3285"/>
              </a:lnSpc>
            </a:pPr>
            <a:r>
              <a:rPr lang="en-US" sz="2135" spc="-29">
                <a:solidFill>
                  <a:srgbClr val="FFFFFF"/>
                </a:solidFill>
                <a:latin typeface="TT Interphases" panose="02000503020000020004"/>
                <a:ea typeface="TT Interphases" panose="02000503020000020004"/>
                <a:cs typeface="TT Interphases" panose="02000503020000020004"/>
                <a:sym typeface="TT Interphases" panose="02000503020000020004"/>
              </a:rPr>
              <a:t>The heatmap shows strong correlations among respiratory symptoms, suggesting they often occur together. Smoking, alcohol use, obesity, and passive smoking also cluster together. In contrast, age, gender, and genetic risk have weaker correlations with most variables.</a:t>
            </a:r>
          </a:p>
        </p:txBody>
      </p:sp>
      <p:sp>
        <p:nvSpPr>
          <p:cNvPr id="4" name="AutoShape 4"/>
          <p:cNvSpPr/>
          <p:nvPr/>
        </p:nvSpPr>
        <p:spPr>
          <a:xfrm>
            <a:off x="535898" y="9961275"/>
            <a:ext cx="6488205" cy="0"/>
          </a:xfrm>
          <a:prstGeom prst="line">
            <a:avLst/>
          </a:prstGeom>
          <a:ln w="19050" cap="flat">
            <a:solidFill>
              <a:srgbClr val="DDA2A5">
                <a:alpha val="74902"/>
              </a:srgbClr>
            </a:solidFill>
            <a:prstDash val="solid"/>
            <a:headEnd type="none" w="sm" len="sm"/>
            <a:tailEnd type="none" w="sm" len="sm"/>
          </a:ln>
        </p:spPr>
      </p:sp>
      <p:sp>
        <p:nvSpPr>
          <p:cNvPr id="5" name="TextBox 5"/>
          <p:cNvSpPr txBox="1"/>
          <p:nvPr/>
        </p:nvSpPr>
        <p:spPr>
          <a:xfrm>
            <a:off x="5372602" y="10132950"/>
            <a:ext cx="1651500" cy="139277"/>
          </a:xfrm>
          <a:prstGeom prst="rect">
            <a:avLst/>
          </a:prstGeom>
        </p:spPr>
        <p:txBody>
          <a:bodyPr lIns="0" tIns="0" rIns="0" bIns="0" rtlCol="0" anchor="t">
            <a:spAutoFit/>
          </a:bodyPr>
          <a:lstStyle/>
          <a:p>
            <a:pPr algn="r">
              <a:lnSpc>
                <a:spcPts val="1080"/>
              </a:lnSpc>
            </a:pPr>
            <a:r>
              <a:rPr lang="en-US" sz="800" b="1">
                <a:solidFill>
                  <a:srgbClr val="DBDBDD"/>
                </a:solidFill>
                <a:latin typeface="JetBrains Mono Medium" panose="02010609020102050004"/>
                <a:ea typeface="JetBrains Mono Medium" panose="02010609020102050004"/>
                <a:cs typeface="JetBrains Mono Medium" panose="02010609020102050004"/>
                <a:sym typeface="JetBrains Mono Medium" panose="02010609020102050004"/>
              </a:rPr>
              <a:t>7</a:t>
            </a:r>
          </a:p>
        </p:txBody>
      </p:sp>
      <p:sp>
        <p:nvSpPr>
          <p:cNvPr id="6" name="TextBox 6"/>
          <p:cNvSpPr txBox="1"/>
          <p:nvPr/>
        </p:nvSpPr>
        <p:spPr>
          <a:xfrm>
            <a:off x="756000" y="6250743"/>
            <a:ext cx="2346372" cy="257142"/>
          </a:xfrm>
          <a:prstGeom prst="rect">
            <a:avLst/>
          </a:prstGeom>
        </p:spPr>
        <p:txBody>
          <a:bodyPr lIns="0" tIns="0" rIns="0" bIns="0" rtlCol="0" anchor="t">
            <a:spAutoFit/>
          </a:bodyPr>
          <a:lstStyle/>
          <a:p>
            <a:pPr marL="0" lvl="0" indent="0" algn="l">
              <a:lnSpc>
                <a:spcPts val="2040"/>
              </a:lnSpc>
            </a:pPr>
            <a:r>
              <a:rPr lang="en-US" sz="1700" b="1" spc="-42">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7. Correlation Heatmap</a:t>
            </a:r>
          </a:p>
        </p:txBody>
      </p:sp>
      <p:sp>
        <p:nvSpPr>
          <p:cNvPr id="7" name="Freeform 7"/>
          <p:cNvSpPr/>
          <p:nvPr/>
        </p:nvSpPr>
        <p:spPr>
          <a:xfrm>
            <a:off x="294171" y="272017"/>
            <a:ext cx="6966182" cy="5773337"/>
          </a:xfrm>
          <a:custGeom>
            <a:avLst/>
            <a:gdLst/>
            <a:ahLst/>
            <a:cxnLst/>
            <a:rect l="l" t="t" r="r" b="b"/>
            <a:pathLst>
              <a:path w="6966182" h="5773337">
                <a:moveTo>
                  <a:pt x="0" y="0"/>
                </a:moveTo>
                <a:lnTo>
                  <a:pt x="6966182" y="0"/>
                </a:lnTo>
                <a:lnTo>
                  <a:pt x="6966182" y="5773337"/>
                </a:lnTo>
                <a:lnTo>
                  <a:pt x="0" y="5773337"/>
                </a:lnTo>
                <a:lnTo>
                  <a:pt x="0" y="0"/>
                </a:lnTo>
                <a:close/>
              </a:path>
            </a:pathLst>
          </a:custGeom>
          <a:blipFill>
            <a:blip r:embed="rId3"/>
            <a:stretch>
              <a:fillRect l="-11931" r="-13144"/>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720"/>
        </a:solidFill>
        <a:effectLst/>
      </p:bgPr>
    </p:bg>
    <p:spTree>
      <p:nvGrpSpPr>
        <p:cNvPr id="1" name=""/>
        <p:cNvGrpSpPr/>
        <p:nvPr/>
      </p:nvGrpSpPr>
      <p:grpSpPr>
        <a:xfrm>
          <a:off x="0" y="0"/>
          <a:ext cx="0" cy="0"/>
          <a:chOff x="0" y="0"/>
          <a:chExt cx="0" cy="0"/>
        </a:xfrm>
      </p:grpSpPr>
      <p:sp>
        <p:nvSpPr>
          <p:cNvPr id="2" name="AutoShape 2"/>
          <p:cNvSpPr/>
          <p:nvPr/>
        </p:nvSpPr>
        <p:spPr>
          <a:xfrm>
            <a:off x="535898" y="9961275"/>
            <a:ext cx="6488205" cy="0"/>
          </a:xfrm>
          <a:prstGeom prst="line">
            <a:avLst/>
          </a:prstGeom>
          <a:ln w="19050" cap="flat">
            <a:solidFill>
              <a:srgbClr val="D0121F">
                <a:alpha val="74902"/>
              </a:srgbClr>
            </a:solidFill>
            <a:prstDash val="solid"/>
            <a:headEnd type="none" w="sm" len="sm"/>
            <a:tailEnd type="none" w="sm" len="sm"/>
          </a:ln>
        </p:spPr>
      </p:sp>
      <p:sp>
        <p:nvSpPr>
          <p:cNvPr id="3" name="Freeform 3"/>
          <p:cNvSpPr/>
          <p:nvPr/>
        </p:nvSpPr>
        <p:spPr>
          <a:xfrm rot="958895">
            <a:off x="-1161940" y="418410"/>
            <a:ext cx="4429682" cy="3981176"/>
          </a:xfrm>
          <a:custGeom>
            <a:avLst/>
            <a:gdLst/>
            <a:ahLst/>
            <a:cxnLst/>
            <a:rect l="l" t="t" r="r" b="b"/>
            <a:pathLst>
              <a:path w="4429682" h="3981176">
                <a:moveTo>
                  <a:pt x="0" y="0"/>
                </a:moveTo>
                <a:lnTo>
                  <a:pt x="4429681" y="0"/>
                </a:lnTo>
                <a:lnTo>
                  <a:pt x="4429681" y="3981177"/>
                </a:lnTo>
                <a:lnTo>
                  <a:pt x="0" y="39811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154521" y="251688"/>
            <a:ext cx="5263851" cy="3318813"/>
          </a:xfrm>
          <a:custGeom>
            <a:avLst/>
            <a:gdLst/>
            <a:ahLst/>
            <a:cxnLst/>
            <a:rect l="l" t="t" r="r" b="b"/>
            <a:pathLst>
              <a:path w="5263851" h="3318813">
                <a:moveTo>
                  <a:pt x="0" y="0"/>
                </a:moveTo>
                <a:lnTo>
                  <a:pt x="5263852" y="0"/>
                </a:lnTo>
                <a:lnTo>
                  <a:pt x="5263852" y="3318813"/>
                </a:lnTo>
                <a:lnTo>
                  <a:pt x="0" y="3318813"/>
                </a:lnTo>
                <a:lnTo>
                  <a:pt x="0" y="0"/>
                </a:lnTo>
                <a:close/>
              </a:path>
            </a:pathLst>
          </a:custGeom>
          <a:blipFill>
            <a:blip r:embed="rId4"/>
            <a:stretch>
              <a:fillRect/>
            </a:stretch>
          </a:blipFill>
        </p:spPr>
      </p:sp>
      <p:sp>
        <p:nvSpPr>
          <p:cNvPr id="5" name="Freeform 5"/>
          <p:cNvSpPr/>
          <p:nvPr/>
        </p:nvSpPr>
        <p:spPr>
          <a:xfrm>
            <a:off x="228725" y="3791393"/>
            <a:ext cx="5028262" cy="3255902"/>
          </a:xfrm>
          <a:custGeom>
            <a:avLst/>
            <a:gdLst/>
            <a:ahLst/>
            <a:cxnLst/>
            <a:rect l="l" t="t" r="r" b="b"/>
            <a:pathLst>
              <a:path w="5028262" h="3255902">
                <a:moveTo>
                  <a:pt x="0" y="0"/>
                </a:moveTo>
                <a:lnTo>
                  <a:pt x="5028262" y="0"/>
                </a:lnTo>
                <a:lnTo>
                  <a:pt x="5028262" y="3255902"/>
                </a:lnTo>
                <a:lnTo>
                  <a:pt x="0" y="3255902"/>
                </a:lnTo>
                <a:lnTo>
                  <a:pt x="0" y="0"/>
                </a:lnTo>
                <a:close/>
              </a:path>
            </a:pathLst>
          </a:custGeom>
          <a:blipFill>
            <a:blip r:embed="rId5"/>
            <a:stretch>
              <a:fillRect/>
            </a:stretch>
          </a:blipFill>
        </p:spPr>
      </p:sp>
      <p:sp>
        <p:nvSpPr>
          <p:cNvPr id="6" name="Freeform 6"/>
          <p:cNvSpPr/>
          <p:nvPr/>
        </p:nvSpPr>
        <p:spPr>
          <a:xfrm>
            <a:off x="5372602" y="4656697"/>
            <a:ext cx="2187398" cy="2390598"/>
          </a:xfrm>
          <a:custGeom>
            <a:avLst/>
            <a:gdLst/>
            <a:ahLst/>
            <a:cxnLst/>
            <a:rect l="l" t="t" r="r" b="b"/>
            <a:pathLst>
              <a:path w="2187398" h="2390598">
                <a:moveTo>
                  <a:pt x="0" y="0"/>
                </a:moveTo>
                <a:lnTo>
                  <a:pt x="2187398" y="0"/>
                </a:lnTo>
                <a:lnTo>
                  <a:pt x="2187398" y="2390598"/>
                </a:lnTo>
                <a:lnTo>
                  <a:pt x="0" y="2390598"/>
                </a:lnTo>
                <a:lnTo>
                  <a:pt x="0" y="0"/>
                </a:lnTo>
                <a:close/>
              </a:path>
            </a:pathLst>
          </a:custGeom>
          <a:blipFill>
            <a:blip r:embed="rId6">
              <a:alphaModFix amt="49000"/>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535898" y="7637324"/>
            <a:ext cx="6488205" cy="2394595"/>
          </a:xfrm>
          <a:prstGeom prst="rect">
            <a:avLst/>
          </a:prstGeom>
        </p:spPr>
        <p:txBody>
          <a:bodyPr lIns="0" tIns="0" rIns="0" bIns="0" rtlCol="0" anchor="t">
            <a:spAutoFit/>
          </a:bodyPr>
          <a:lstStyle/>
          <a:p>
            <a:pPr marL="238760" lvl="1" indent="-119380" algn="just">
              <a:lnSpc>
                <a:spcPts val="1600"/>
              </a:lnSpc>
              <a:spcBef>
                <a:spcPct val="0"/>
              </a:spcBef>
              <a:buFont typeface="Arial" panose="020B0604020202020204"/>
              <a:buChar char="•"/>
            </a:pPr>
            <a:r>
              <a:rPr lang="en-US" sz="1105" b="1" u="none" strike="noStrike">
                <a:solidFill>
                  <a:srgbClr val="DBDBDD"/>
                </a:solidFill>
                <a:latin typeface="TT Interphases Bold" panose="02000803060000020004"/>
                <a:ea typeface="TT Interphases Bold" panose="02000803060000020004"/>
                <a:cs typeface="TT Interphases Bold" panose="02000803060000020004"/>
                <a:sym typeface="TT Interphases Bold" panose="02000803060000020004"/>
              </a:rPr>
              <a:t>Age </a:t>
            </a:r>
            <a:r>
              <a:rPr lang="en-US" sz="1105" u="none" strike="noStrike">
                <a:solidFill>
                  <a:srgbClr val="DBDBDD"/>
                </a:solidFill>
                <a:latin typeface="TT Interphases" panose="02000503020000020004"/>
                <a:ea typeface="TT Interphases" panose="02000503020000020004"/>
                <a:cs typeface="TT Interphases" panose="02000503020000020004"/>
                <a:sym typeface="TT Interphases" panose="02000503020000020004"/>
              </a:rPr>
              <a:t>(ANOVA p = 0.00328): The average age differs significantly across severity groups. High-severity patients typically fall in their late 30s or early 40s.</a:t>
            </a:r>
          </a:p>
          <a:p>
            <a:pPr algn="just">
              <a:lnSpc>
                <a:spcPts val="1600"/>
              </a:lnSpc>
              <a:spcBef>
                <a:spcPct val="0"/>
              </a:spcBef>
            </a:pPr>
            <a:endParaRPr lang="en-US" sz="1105" u="none" strike="noStrike">
              <a:solidFill>
                <a:srgbClr val="DBDBDD"/>
              </a:solidFill>
              <a:latin typeface="TT Interphases" panose="02000503020000020004"/>
              <a:ea typeface="TT Interphases" panose="02000503020000020004"/>
              <a:cs typeface="TT Interphases" panose="02000503020000020004"/>
              <a:sym typeface="TT Interphases" panose="02000503020000020004"/>
            </a:endParaRPr>
          </a:p>
          <a:p>
            <a:pPr marL="238760" lvl="1" indent="-119380" algn="just">
              <a:lnSpc>
                <a:spcPts val="1600"/>
              </a:lnSpc>
              <a:spcBef>
                <a:spcPct val="0"/>
              </a:spcBef>
              <a:buFont typeface="Arial" panose="020B0604020202020204"/>
              <a:buChar char="•"/>
            </a:pPr>
            <a:r>
              <a:rPr lang="en-US" sz="1105" b="1" u="none" strike="noStrike">
                <a:solidFill>
                  <a:srgbClr val="DBDBDD"/>
                </a:solidFill>
                <a:latin typeface="TT Interphases Bold" panose="02000803060000020004"/>
                <a:ea typeface="TT Interphases Bold" panose="02000803060000020004"/>
                <a:cs typeface="TT Interphases Bold" panose="02000803060000020004"/>
                <a:sym typeface="TT Interphases Bold" panose="02000803060000020004"/>
              </a:rPr>
              <a:t>Smoking </a:t>
            </a:r>
            <a:r>
              <a:rPr lang="en-US" sz="1105" u="none" strike="noStrike">
                <a:solidFill>
                  <a:srgbClr val="DBDBDD"/>
                </a:solidFill>
                <a:latin typeface="TT Interphases" panose="02000503020000020004"/>
                <a:ea typeface="TT Interphases" panose="02000503020000020004"/>
                <a:cs typeface="TT Interphases" panose="02000503020000020004"/>
                <a:sym typeface="TT Interphases" panose="02000503020000020004"/>
              </a:rPr>
              <a:t>(Chisquare p &lt; 2.2e16): High severity is strongly associated with high smoking scores. Score 7 shows about 90 percent high-severity cases.</a:t>
            </a:r>
          </a:p>
          <a:p>
            <a:pPr algn="just">
              <a:lnSpc>
                <a:spcPts val="1600"/>
              </a:lnSpc>
              <a:spcBef>
                <a:spcPct val="0"/>
              </a:spcBef>
            </a:pPr>
            <a:endParaRPr lang="en-US" sz="1105" u="none" strike="noStrike">
              <a:solidFill>
                <a:srgbClr val="DBDBDD"/>
              </a:solidFill>
              <a:latin typeface="TT Interphases" panose="02000503020000020004"/>
              <a:ea typeface="TT Interphases" panose="02000503020000020004"/>
              <a:cs typeface="TT Interphases" panose="02000503020000020004"/>
              <a:sym typeface="TT Interphases" panose="02000503020000020004"/>
            </a:endParaRPr>
          </a:p>
          <a:p>
            <a:pPr marL="238760" lvl="1" indent="-119380" algn="just">
              <a:lnSpc>
                <a:spcPts val="1600"/>
              </a:lnSpc>
              <a:spcBef>
                <a:spcPct val="0"/>
              </a:spcBef>
              <a:buFont typeface="Arial" panose="020B0604020202020204"/>
              <a:buChar char="•"/>
            </a:pPr>
            <a:r>
              <a:rPr lang="en-US" sz="1105" b="1" u="none" strike="noStrike">
                <a:solidFill>
                  <a:srgbClr val="DBDBDD"/>
                </a:solidFill>
                <a:latin typeface="TT Interphases Bold" panose="02000803060000020004"/>
                <a:ea typeface="TT Interphases Bold" panose="02000803060000020004"/>
                <a:cs typeface="TT Interphases Bold" panose="02000803060000020004"/>
                <a:sym typeface="TT Interphases Bold" panose="02000803060000020004"/>
              </a:rPr>
              <a:t>Genetic Risk</a:t>
            </a:r>
            <a:r>
              <a:rPr lang="en-US" sz="1105" u="none" strike="noStrike">
                <a:solidFill>
                  <a:srgbClr val="DBDBDD"/>
                </a:solidFill>
                <a:latin typeface="TT Interphases" panose="02000503020000020004"/>
                <a:ea typeface="TT Interphases" panose="02000503020000020004"/>
                <a:cs typeface="TT Interphases" panose="02000503020000020004"/>
                <a:sym typeface="TT Interphases" panose="02000503020000020004"/>
              </a:rPr>
              <a:t> (Chi-square p &lt; 2.2e16): High severity becomes dominant at genetic risk score 5 and reaches 100 percent at score 7.</a:t>
            </a:r>
          </a:p>
          <a:p>
            <a:pPr algn="just">
              <a:lnSpc>
                <a:spcPts val="1600"/>
              </a:lnSpc>
              <a:spcBef>
                <a:spcPct val="0"/>
              </a:spcBef>
            </a:pPr>
            <a:endParaRPr lang="en-US" sz="1105" u="none" strike="noStrike">
              <a:solidFill>
                <a:srgbClr val="DBDBDD"/>
              </a:solidFill>
              <a:latin typeface="TT Interphases" panose="02000503020000020004"/>
              <a:ea typeface="TT Interphases" panose="02000503020000020004"/>
              <a:cs typeface="TT Interphases" panose="02000503020000020004"/>
              <a:sym typeface="TT Interphases" panose="02000503020000020004"/>
            </a:endParaRPr>
          </a:p>
          <a:p>
            <a:pPr marL="238760" lvl="1" indent="-119380" algn="just">
              <a:lnSpc>
                <a:spcPts val="1600"/>
              </a:lnSpc>
              <a:spcBef>
                <a:spcPct val="0"/>
              </a:spcBef>
              <a:buFont typeface="Arial" panose="020B0604020202020204"/>
              <a:buChar char="•"/>
            </a:pPr>
            <a:r>
              <a:rPr lang="en-US" sz="1105" b="1" u="none" strike="noStrike">
                <a:solidFill>
                  <a:srgbClr val="DBDBDD"/>
                </a:solidFill>
                <a:latin typeface="TT Interphases Bold" panose="02000803060000020004"/>
                <a:ea typeface="TT Interphases Bold" panose="02000803060000020004"/>
                <a:cs typeface="TT Interphases Bold" panose="02000803060000020004"/>
                <a:sym typeface="TT Interphases Bold" panose="02000803060000020004"/>
              </a:rPr>
              <a:t>Shortness of Breath</a:t>
            </a:r>
            <a:r>
              <a:rPr lang="en-US" sz="1105" u="none" strike="noStrike">
                <a:solidFill>
                  <a:srgbClr val="DBDBDD"/>
                </a:solidFill>
                <a:latin typeface="TT Interphases" panose="02000503020000020004"/>
                <a:ea typeface="TT Interphases" panose="02000503020000020004"/>
                <a:cs typeface="TT Interphases" panose="02000503020000020004"/>
                <a:sym typeface="TT Interphases" panose="02000503020000020004"/>
              </a:rPr>
              <a:t> (Kruskal p &lt; 2.2e16): Median scores differ by severity group. High shows a median around 5, Medium around 4, and Low around 2.</a:t>
            </a:r>
          </a:p>
          <a:p>
            <a:pPr marL="0" lvl="0" indent="0" algn="just">
              <a:lnSpc>
                <a:spcPts val="1600"/>
              </a:lnSpc>
              <a:spcBef>
                <a:spcPct val="0"/>
              </a:spcBef>
            </a:pPr>
            <a:endParaRPr lang="en-US" sz="1105" u="none" strike="noStrike">
              <a:solidFill>
                <a:srgbClr val="DBDBDD"/>
              </a:solidFill>
              <a:latin typeface="TT Interphases" panose="02000503020000020004"/>
              <a:ea typeface="TT Interphases" panose="02000503020000020004"/>
              <a:cs typeface="TT Interphases" panose="02000503020000020004"/>
              <a:sym typeface="TT Interphases" panose="02000503020000020004"/>
            </a:endParaRPr>
          </a:p>
        </p:txBody>
      </p:sp>
      <p:sp>
        <p:nvSpPr>
          <p:cNvPr id="8" name="TextBox 8"/>
          <p:cNvSpPr txBox="1"/>
          <p:nvPr/>
        </p:nvSpPr>
        <p:spPr>
          <a:xfrm>
            <a:off x="5372602" y="10132950"/>
            <a:ext cx="1651500" cy="139277"/>
          </a:xfrm>
          <a:prstGeom prst="rect">
            <a:avLst/>
          </a:prstGeom>
        </p:spPr>
        <p:txBody>
          <a:bodyPr lIns="0" tIns="0" rIns="0" bIns="0" rtlCol="0" anchor="t">
            <a:spAutoFit/>
          </a:bodyPr>
          <a:lstStyle/>
          <a:p>
            <a:pPr algn="r">
              <a:lnSpc>
                <a:spcPts val="1080"/>
              </a:lnSpc>
            </a:pPr>
            <a:r>
              <a:rPr lang="en-US" sz="800" b="1">
                <a:solidFill>
                  <a:srgbClr val="DBDBDD"/>
                </a:solidFill>
                <a:latin typeface="JetBrains Mono Medium" panose="02010609020102050004"/>
                <a:ea typeface="JetBrains Mono Medium" panose="02010609020102050004"/>
                <a:cs typeface="JetBrains Mono Medium" panose="02010609020102050004"/>
                <a:sym typeface="JetBrains Mono Medium" panose="02010609020102050004"/>
              </a:rPr>
              <a:t>8</a:t>
            </a:r>
          </a:p>
        </p:txBody>
      </p:sp>
      <p:sp>
        <p:nvSpPr>
          <p:cNvPr id="9" name="TextBox 9"/>
          <p:cNvSpPr txBox="1"/>
          <p:nvPr/>
        </p:nvSpPr>
        <p:spPr>
          <a:xfrm>
            <a:off x="471802" y="7266370"/>
            <a:ext cx="3043409" cy="257142"/>
          </a:xfrm>
          <a:prstGeom prst="rect">
            <a:avLst/>
          </a:prstGeom>
        </p:spPr>
        <p:txBody>
          <a:bodyPr lIns="0" tIns="0" rIns="0" bIns="0" rtlCol="0" anchor="t">
            <a:spAutoFit/>
          </a:bodyPr>
          <a:lstStyle/>
          <a:p>
            <a:pPr marL="0" lvl="0" indent="0" algn="l">
              <a:lnSpc>
                <a:spcPts val="2040"/>
              </a:lnSpc>
            </a:pPr>
            <a:r>
              <a:rPr lang="en-US" sz="1700" b="1" spc="-42">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8. Statistical Tests Summary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9877" y="131420"/>
            <a:ext cx="3502131" cy="2652086"/>
            <a:chOff x="0" y="0"/>
            <a:chExt cx="1255085" cy="950448"/>
          </a:xfrm>
        </p:grpSpPr>
        <p:sp>
          <p:nvSpPr>
            <p:cNvPr id="3" name="Freeform 3"/>
            <p:cNvSpPr/>
            <p:nvPr/>
          </p:nvSpPr>
          <p:spPr>
            <a:xfrm>
              <a:off x="0" y="0"/>
              <a:ext cx="1255085" cy="950448"/>
            </a:xfrm>
            <a:custGeom>
              <a:avLst/>
              <a:gdLst/>
              <a:ahLst/>
              <a:cxnLst/>
              <a:rect l="l" t="t" r="r" b="b"/>
              <a:pathLst>
                <a:path w="1255085" h="950448">
                  <a:moveTo>
                    <a:pt x="17685" y="0"/>
                  </a:moveTo>
                  <a:lnTo>
                    <a:pt x="1237400" y="0"/>
                  </a:lnTo>
                  <a:cubicBezTo>
                    <a:pt x="1247167" y="0"/>
                    <a:pt x="1255085" y="7918"/>
                    <a:pt x="1255085" y="17685"/>
                  </a:cubicBezTo>
                  <a:lnTo>
                    <a:pt x="1255085" y="932763"/>
                  </a:lnTo>
                  <a:cubicBezTo>
                    <a:pt x="1255085" y="937453"/>
                    <a:pt x="1253221" y="941951"/>
                    <a:pt x="1249905" y="945268"/>
                  </a:cubicBezTo>
                  <a:cubicBezTo>
                    <a:pt x="1246588" y="948584"/>
                    <a:pt x="1242090" y="950448"/>
                    <a:pt x="1237400" y="950448"/>
                  </a:cubicBezTo>
                  <a:lnTo>
                    <a:pt x="17685" y="950448"/>
                  </a:lnTo>
                  <a:cubicBezTo>
                    <a:pt x="12995" y="950448"/>
                    <a:pt x="8496" y="948584"/>
                    <a:pt x="5180" y="945268"/>
                  </a:cubicBezTo>
                  <a:cubicBezTo>
                    <a:pt x="1863" y="941951"/>
                    <a:pt x="0" y="937453"/>
                    <a:pt x="0" y="932763"/>
                  </a:cubicBezTo>
                  <a:lnTo>
                    <a:pt x="0" y="17685"/>
                  </a:lnTo>
                  <a:cubicBezTo>
                    <a:pt x="0" y="12995"/>
                    <a:pt x="1863" y="8496"/>
                    <a:pt x="5180" y="5180"/>
                  </a:cubicBezTo>
                  <a:cubicBezTo>
                    <a:pt x="8496" y="1863"/>
                    <a:pt x="12995" y="0"/>
                    <a:pt x="17685" y="0"/>
                  </a:cubicBezTo>
                  <a:close/>
                </a:path>
              </a:pathLst>
            </a:custGeom>
            <a:solidFill>
              <a:srgbClr val="080720"/>
            </a:solidFill>
            <a:ln w="9525" cap="sq">
              <a:solidFill>
                <a:srgbClr val="5566B8"/>
              </a:solidFill>
              <a:prstDash val="solid"/>
              <a:miter/>
            </a:ln>
          </p:spPr>
        </p:sp>
        <p:sp>
          <p:nvSpPr>
            <p:cNvPr id="4" name="TextBox 4"/>
            <p:cNvSpPr txBox="1"/>
            <p:nvPr/>
          </p:nvSpPr>
          <p:spPr>
            <a:xfrm>
              <a:off x="0" y="-28575"/>
              <a:ext cx="1255085" cy="979023"/>
            </a:xfrm>
            <a:prstGeom prst="rect">
              <a:avLst/>
            </a:prstGeom>
          </p:spPr>
          <p:txBody>
            <a:bodyPr lIns="50800" tIns="50800" rIns="50800" bIns="50800" rtlCol="0" anchor="ctr"/>
            <a:lstStyle/>
            <a:p>
              <a:pPr marL="0" lvl="0" indent="0" algn="ctr">
                <a:lnSpc>
                  <a:spcPts val="1600"/>
                </a:lnSpc>
                <a:spcBef>
                  <a:spcPct val="0"/>
                </a:spcBef>
              </a:pPr>
              <a:endParaRPr/>
            </a:p>
          </p:txBody>
        </p:sp>
      </p:grpSp>
      <p:sp>
        <p:nvSpPr>
          <p:cNvPr id="5" name="TextBox 5"/>
          <p:cNvSpPr txBox="1"/>
          <p:nvPr/>
        </p:nvSpPr>
        <p:spPr>
          <a:xfrm>
            <a:off x="99126" y="679800"/>
            <a:ext cx="2640805" cy="1901286"/>
          </a:xfrm>
          <a:prstGeom prst="rect">
            <a:avLst/>
          </a:prstGeom>
        </p:spPr>
        <p:txBody>
          <a:bodyPr lIns="0" tIns="0" rIns="0" bIns="0" rtlCol="0" anchor="t">
            <a:spAutoFit/>
          </a:bodyPr>
          <a:lstStyle/>
          <a:p>
            <a:pPr marL="0" lvl="0" indent="0" algn="l">
              <a:lnSpc>
                <a:spcPts val="2175"/>
              </a:lnSpc>
            </a:pPr>
            <a:r>
              <a:rPr lang="en-US" sz="1105" spc="33">
                <a:solidFill>
                  <a:srgbClr val="FFFFFF"/>
                </a:solidFill>
                <a:latin typeface="TT Interphases" panose="02000503020000020004"/>
                <a:ea typeface="TT Interphases" panose="02000503020000020004"/>
                <a:cs typeface="TT Interphases" panose="02000503020000020004"/>
                <a:sym typeface="TT Interphases" panose="02000503020000020004"/>
              </a:rPr>
              <a:t>All models were trained on the dataset, including Logistic Regression, Decision Tree, Random Forest, KNN, XGBoost, Naive Bayes, and a Neural Network. Except for Naive Bayes, every model achieved 100 percent accuracy on the test set.</a:t>
            </a:r>
          </a:p>
        </p:txBody>
      </p:sp>
      <p:sp>
        <p:nvSpPr>
          <p:cNvPr id="6" name="TextBox 6"/>
          <p:cNvSpPr txBox="1"/>
          <p:nvPr/>
        </p:nvSpPr>
        <p:spPr>
          <a:xfrm>
            <a:off x="5372602" y="10132950"/>
            <a:ext cx="1651500" cy="139277"/>
          </a:xfrm>
          <a:prstGeom prst="rect">
            <a:avLst/>
          </a:prstGeom>
        </p:spPr>
        <p:txBody>
          <a:bodyPr lIns="0" tIns="0" rIns="0" bIns="0" rtlCol="0" anchor="t">
            <a:spAutoFit/>
          </a:bodyPr>
          <a:lstStyle/>
          <a:p>
            <a:pPr algn="r">
              <a:lnSpc>
                <a:spcPts val="1080"/>
              </a:lnSpc>
            </a:pPr>
            <a:r>
              <a:rPr lang="en-US" sz="800" b="1">
                <a:solidFill>
                  <a:srgbClr val="080720"/>
                </a:solidFill>
                <a:latin typeface="JetBrains Mono Medium" panose="02010609020102050004"/>
                <a:ea typeface="JetBrains Mono Medium" panose="02010609020102050004"/>
                <a:cs typeface="JetBrains Mono Medium" panose="02010609020102050004"/>
                <a:sym typeface="JetBrains Mono Medium" panose="02010609020102050004"/>
              </a:rPr>
              <a:t>9</a:t>
            </a:r>
          </a:p>
        </p:txBody>
      </p:sp>
      <p:sp>
        <p:nvSpPr>
          <p:cNvPr id="7" name="Freeform 7"/>
          <p:cNvSpPr/>
          <p:nvPr/>
        </p:nvSpPr>
        <p:spPr>
          <a:xfrm>
            <a:off x="3218526" y="131420"/>
            <a:ext cx="4189011" cy="2652086"/>
          </a:xfrm>
          <a:custGeom>
            <a:avLst/>
            <a:gdLst/>
            <a:ahLst/>
            <a:cxnLst/>
            <a:rect l="l" t="t" r="r" b="b"/>
            <a:pathLst>
              <a:path w="4189011" h="2652086">
                <a:moveTo>
                  <a:pt x="0" y="0"/>
                </a:moveTo>
                <a:lnTo>
                  <a:pt x="4189011" y="0"/>
                </a:lnTo>
                <a:lnTo>
                  <a:pt x="4189011" y="2652086"/>
                </a:lnTo>
                <a:lnTo>
                  <a:pt x="0" y="2652086"/>
                </a:lnTo>
                <a:lnTo>
                  <a:pt x="0" y="0"/>
                </a:lnTo>
                <a:close/>
              </a:path>
            </a:pathLst>
          </a:custGeom>
          <a:blipFill>
            <a:blip r:embed="rId2"/>
            <a:stretch>
              <a:fillRect l="-803" t="-344" b="-5156"/>
            </a:stretch>
          </a:blipFill>
        </p:spPr>
      </p:sp>
      <p:sp>
        <p:nvSpPr>
          <p:cNvPr id="8" name="TextBox 8"/>
          <p:cNvSpPr txBox="1"/>
          <p:nvPr/>
        </p:nvSpPr>
        <p:spPr>
          <a:xfrm>
            <a:off x="99126" y="332336"/>
            <a:ext cx="2178122" cy="257142"/>
          </a:xfrm>
          <a:prstGeom prst="rect">
            <a:avLst/>
          </a:prstGeom>
        </p:spPr>
        <p:txBody>
          <a:bodyPr lIns="0" tIns="0" rIns="0" bIns="0" rtlCol="0" anchor="t">
            <a:spAutoFit/>
          </a:bodyPr>
          <a:lstStyle/>
          <a:p>
            <a:pPr marL="0" lvl="0" indent="0" algn="l">
              <a:lnSpc>
                <a:spcPts val="2040"/>
              </a:lnSpc>
            </a:pPr>
            <a:r>
              <a:rPr lang="en-US" sz="1700" b="1" spc="-42">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Model Performance</a:t>
            </a:r>
          </a:p>
        </p:txBody>
      </p:sp>
      <p:grpSp>
        <p:nvGrpSpPr>
          <p:cNvPr id="9" name="Group 9"/>
          <p:cNvGrpSpPr/>
          <p:nvPr/>
        </p:nvGrpSpPr>
        <p:grpSpPr>
          <a:xfrm>
            <a:off x="-987053" y="6819223"/>
            <a:ext cx="10344312" cy="3250136"/>
            <a:chOff x="0" y="0"/>
            <a:chExt cx="3707168" cy="1164775"/>
          </a:xfrm>
        </p:grpSpPr>
        <p:sp>
          <p:nvSpPr>
            <p:cNvPr id="10" name="Freeform 10"/>
            <p:cNvSpPr/>
            <p:nvPr/>
          </p:nvSpPr>
          <p:spPr>
            <a:xfrm>
              <a:off x="0" y="0"/>
              <a:ext cx="3707168" cy="1164775"/>
            </a:xfrm>
            <a:custGeom>
              <a:avLst/>
              <a:gdLst/>
              <a:ahLst/>
              <a:cxnLst/>
              <a:rect l="l" t="t" r="r" b="b"/>
              <a:pathLst>
                <a:path w="3707168" h="1164775">
                  <a:moveTo>
                    <a:pt x="5987" y="0"/>
                  </a:moveTo>
                  <a:lnTo>
                    <a:pt x="3701181" y="0"/>
                  </a:lnTo>
                  <a:cubicBezTo>
                    <a:pt x="3702769" y="0"/>
                    <a:pt x="3704291" y="631"/>
                    <a:pt x="3705414" y="1754"/>
                  </a:cubicBezTo>
                  <a:cubicBezTo>
                    <a:pt x="3706537" y="2877"/>
                    <a:pt x="3707168" y="4399"/>
                    <a:pt x="3707168" y="5987"/>
                  </a:cubicBezTo>
                  <a:lnTo>
                    <a:pt x="3707168" y="1158788"/>
                  </a:lnTo>
                  <a:cubicBezTo>
                    <a:pt x="3707168" y="1162095"/>
                    <a:pt x="3704487" y="1164775"/>
                    <a:pt x="3701181" y="1164775"/>
                  </a:cubicBezTo>
                  <a:lnTo>
                    <a:pt x="5987" y="1164775"/>
                  </a:lnTo>
                  <a:cubicBezTo>
                    <a:pt x="4399" y="1164775"/>
                    <a:pt x="2877" y="1164144"/>
                    <a:pt x="1754" y="1163022"/>
                  </a:cubicBezTo>
                  <a:cubicBezTo>
                    <a:pt x="631" y="1161899"/>
                    <a:pt x="0" y="1160376"/>
                    <a:pt x="0" y="1158788"/>
                  </a:cubicBezTo>
                  <a:lnTo>
                    <a:pt x="0" y="5987"/>
                  </a:lnTo>
                  <a:cubicBezTo>
                    <a:pt x="0" y="4399"/>
                    <a:pt x="631" y="2877"/>
                    <a:pt x="1754" y="1754"/>
                  </a:cubicBezTo>
                  <a:cubicBezTo>
                    <a:pt x="2877" y="631"/>
                    <a:pt x="4399" y="0"/>
                    <a:pt x="5987" y="0"/>
                  </a:cubicBezTo>
                  <a:close/>
                </a:path>
              </a:pathLst>
            </a:custGeom>
            <a:solidFill>
              <a:srgbClr val="080720"/>
            </a:solidFill>
            <a:ln w="9525" cap="sq">
              <a:solidFill>
                <a:srgbClr val="5566B8"/>
              </a:solidFill>
              <a:prstDash val="solid"/>
              <a:miter/>
            </a:ln>
          </p:spPr>
        </p:sp>
        <p:sp>
          <p:nvSpPr>
            <p:cNvPr id="11" name="TextBox 11"/>
            <p:cNvSpPr txBox="1"/>
            <p:nvPr/>
          </p:nvSpPr>
          <p:spPr>
            <a:xfrm>
              <a:off x="0" y="-28575"/>
              <a:ext cx="3707168" cy="1193350"/>
            </a:xfrm>
            <a:prstGeom prst="rect">
              <a:avLst/>
            </a:prstGeom>
          </p:spPr>
          <p:txBody>
            <a:bodyPr lIns="50800" tIns="50800" rIns="50800" bIns="50800" rtlCol="0" anchor="ctr"/>
            <a:lstStyle/>
            <a:p>
              <a:pPr marL="0" lvl="0" indent="0" algn="ctr">
                <a:lnSpc>
                  <a:spcPts val="1600"/>
                </a:lnSpc>
                <a:spcBef>
                  <a:spcPct val="0"/>
                </a:spcBef>
              </a:pPr>
              <a:endParaRPr/>
            </a:p>
          </p:txBody>
        </p:sp>
      </p:grpSp>
      <p:sp>
        <p:nvSpPr>
          <p:cNvPr id="12" name="Freeform 12"/>
          <p:cNvSpPr/>
          <p:nvPr/>
        </p:nvSpPr>
        <p:spPr>
          <a:xfrm>
            <a:off x="535898" y="2945431"/>
            <a:ext cx="6488205" cy="4257912"/>
          </a:xfrm>
          <a:custGeom>
            <a:avLst/>
            <a:gdLst/>
            <a:ahLst/>
            <a:cxnLst/>
            <a:rect l="l" t="t" r="r" b="b"/>
            <a:pathLst>
              <a:path w="6488205" h="4257912">
                <a:moveTo>
                  <a:pt x="0" y="0"/>
                </a:moveTo>
                <a:lnTo>
                  <a:pt x="6488204" y="0"/>
                </a:lnTo>
                <a:lnTo>
                  <a:pt x="6488204" y="4257912"/>
                </a:lnTo>
                <a:lnTo>
                  <a:pt x="0" y="4257912"/>
                </a:lnTo>
                <a:lnTo>
                  <a:pt x="0" y="0"/>
                </a:lnTo>
                <a:close/>
              </a:path>
            </a:pathLst>
          </a:custGeom>
          <a:blipFill>
            <a:blip r:embed="rId3"/>
            <a:stretch>
              <a:fillRect t="-484" b="-484"/>
            </a:stretch>
          </a:blipFill>
        </p:spPr>
      </p:sp>
      <p:sp>
        <p:nvSpPr>
          <p:cNvPr id="13" name="TextBox 13"/>
          <p:cNvSpPr txBox="1"/>
          <p:nvPr/>
        </p:nvSpPr>
        <p:spPr>
          <a:xfrm>
            <a:off x="147888" y="7598881"/>
            <a:ext cx="7264223" cy="2271623"/>
          </a:xfrm>
          <a:prstGeom prst="rect">
            <a:avLst/>
          </a:prstGeom>
        </p:spPr>
        <p:txBody>
          <a:bodyPr lIns="0" tIns="0" rIns="0" bIns="0" rtlCol="0" anchor="t">
            <a:spAutoFit/>
          </a:bodyPr>
          <a:lstStyle/>
          <a:p>
            <a:pPr marL="259080" lvl="1" indent="-129540" algn="l">
              <a:lnSpc>
                <a:spcPts val="1850"/>
              </a:lnSpc>
              <a:buFont typeface="Arial" panose="020B0604020202020204"/>
              <a:buChar char="•"/>
            </a:pPr>
            <a:r>
              <a:rPr lang="en-US" sz="1200" spc="26">
                <a:solidFill>
                  <a:srgbClr val="FFFFFF"/>
                </a:solidFill>
                <a:latin typeface="Aptos" panose="020B0004020202020204"/>
                <a:ea typeface="Aptos" panose="020B0004020202020204"/>
                <a:cs typeface="Aptos" panose="020B0004020202020204"/>
                <a:sym typeface="Aptos" panose="020B0004020202020204"/>
              </a:rPr>
              <a:t>The dataset is synthetic and highly structured, with clear boundaries between Low, Medium, and High levels.</a:t>
            </a:r>
          </a:p>
          <a:p>
            <a:pPr marL="259080" lvl="1" indent="-129540" algn="l">
              <a:lnSpc>
                <a:spcPts val="1850"/>
              </a:lnSpc>
              <a:buFont typeface="Arial" panose="020B0604020202020204"/>
              <a:buChar char="•"/>
            </a:pPr>
            <a:r>
              <a:rPr lang="en-US" sz="1200" spc="26">
                <a:solidFill>
                  <a:srgbClr val="FFFFFF"/>
                </a:solidFill>
                <a:latin typeface="Aptos" panose="020B0004020202020204"/>
                <a:ea typeface="Aptos" panose="020B0004020202020204"/>
                <a:cs typeface="Aptos" panose="020B0004020202020204"/>
                <a:sym typeface="Aptos" panose="020B0004020202020204"/>
              </a:rPr>
              <a:t>Key predictors such as smoking score, symptom severity, and genetic risk separate the classes almost perfectly.</a:t>
            </a:r>
          </a:p>
          <a:p>
            <a:pPr marL="259080" lvl="1" indent="-129540" algn="l">
              <a:lnSpc>
                <a:spcPts val="1850"/>
              </a:lnSpc>
              <a:buFont typeface="Arial" panose="020B0604020202020204"/>
              <a:buChar char="•"/>
            </a:pPr>
            <a:r>
              <a:rPr lang="en-US" sz="1200" spc="26">
                <a:solidFill>
                  <a:srgbClr val="FFFFFF"/>
                </a:solidFill>
                <a:latin typeface="Aptos" panose="020B0004020202020204"/>
                <a:ea typeface="Aptos" panose="020B0004020202020204"/>
                <a:cs typeface="Aptos" panose="020B0004020202020204"/>
                <a:sym typeface="Aptos" panose="020B0004020202020204"/>
              </a:rPr>
              <a:t>There is no missing data, noise, or contradictory patterns.</a:t>
            </a:r>
          </a:p>
          <a:p>
            <a:pPr marL="259080" lvl="1" indent="-129540" algn="l">
              <a:lnSpc>
                <a:spcPts val="1850"/>
              </a:lnSpc>
              <a:buFont typeface="Arial" panose="020B0604020202020204"/>
              <a:buChar char="•"/>
            </a:pPr>
            <a:r>
              <a:rPr lang="en-US" sz="1200" spc="26">
                <a:solidFill>
                  <a:srgbClr val="FFFFFF"/>
                </a:solidFill>
                <a:latin typeface="Aptos" panose="020B0004020202020204"/>
                <a:ea typeface="Aptos" panose="020B0004020202020204"/>
                <a:cs typeface="Aptos" panose="020B0004020202020204"/>
                <a:sym typeface="Aptos" panose="020B0004020202020204"/>
              </a:rPr>
              <a:t>Symptoms rise in a consistent pattern from Low to Medium to High, making classification straightforward.</a:t>
            </a:r>
          </a:p>
          <a:p>
            <a:pPr marL="259080" lvl="1" indent="-129540" algn="l">
              <a:lnSpc>
                <a:spcPts val="1850"/>
              </a:lnSpc>
              <a:buFont typeface="Arial" panose="020B0604020202020204"/>
              <a:buChar char="•"/>
            </a:pPr>
            <a:r>
              <a:rPr lang="en-US" sz="1200" spc="26">
                <a:solidFill>
                  <a:srgbClr val="FFFFFF"/>
                </a:solidFill>
                <a:latin typeface="Aptos" panose="020B0004020202020204"/>
                <a:ea typeface="Aptos" panose="020B0004020202020204"/>
                <a:cs typeface="Aptos" panose="020B0004020202020204"/>
                <a:sym typeface="Aptos" panose="020B0004020202020204"/>
              </a:rPr>
              <a:t>Models that rely on linear separation, distance measures, or decision boundaries all find clean splits.</a:t>
            </a:r>
          </a:p>
          <a:p>
            <a:pPr marL="0" lvl="0" indent="0" algn="l">
              <a:lnSpc>
                <a:spcPts val="1850"/>
              </a:lnSpc>
            </a:pPr>
            <a:r>
              <a:rPr lang="en-US" sz="1200" spc="26">
                <a:solidFill>
                  <a:srgbClr val="FFFFFF"/>
                </a:solidFill>
                <a:latin typeface="Aptos" panose="020B0004020202020204"/>
                <a:ea typeface="Aptos" panose="020B0004020202020204"/>
                <a:cs typeface="Aptos" panose="020B0004020202020204"/>
                <a:sym typeface="Aptos" panose="020B0004020202020204"/>
              </a:rPr>
              <a:t>Naive Bayes achieved lower performance because it assumes independence between features, yet many symptoms and risks are correlated.</a:t>
            </a:r>
          </a:p>
        </p:txBody>
      </p:sp>
      <p:sp>
        <p:nvSpPr>
          <p:cNvPr id="14" name="TextBox 14"/>
          <p:cNvSpPr txBox="1"/>
          <p:nvPr/>
        </p:nvSpPr>
        <p:spPr>
          <a:xfrm>
            <a:off x="1177217" y="7298593"/>
            <a:ext cx="4910187" cy="257142"/>
          </a:xfrm>
          <a:prstGeom prst="rect">
            <a:avLst/>
          </a:prstGeom>
        </p:spPr>
        <p:txBody>
          <a:bodyPr lIns="0" tIns="0" rIns="0" bIns="0" rtlCol="0" anchor="t">
            <a:spAutoFit/>
          </a:bodyPr>
          <a:lstStyle/>
          <a:p>
            <a:pPr marL="0" lvl="0" indent="0" algn="l">
              <a:lnSpc>
                <a:spcPts val="2040"/>
              </a:lnSpc>
            </a:pPr>
            <a:r>
              <a:rPr lang="en-US" sz="1700" b="1" spc="-42">
                <a:solidFill>
                  <a:srgbClr val="FFFFFF"/>
                </a:solidFill>
                <a:latin typeface="TT Interphases Bold" panose="02000803060000020004"/>
                <a:ea typeface="TT Interphases Bold" panose="02000803060000020004"/>
                <a:cs typeface="TT Interphases Bold" panose="02000803060000020004"/>
                <a:sym typeface="TT Interphases Bold" panose="02000803060000020004"/>
              </a:rPr>
              <a:t>Why the Models Achieved 100 percent Accuracy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5898" y="5145750"/>
            <a:ext cx="6475898" cy="4405500"/>
            <a:chOff x="0" y="0"/>
            <a:chExt cx="2320815" cy="1578832"/>
          </a:xfrm>
        </p:grpSpPr>
        <p:sp>
          <p:nvSpPr>
            <p:cNvPr id="3" name="Freeform 3"/>
            <p:cNvSpPr/>
            <p:nvPr/>
          </p:nvSpPr>
          <p:spPr>
            <a:xfrm>
              <a:off x="0" y="0"/>
              <a:ext cx="2320816" cy="1578832"/>
            </a:xfrm>
            <a:custGeom>
              <a:avLst/>
              <a:gdLst/>
              <a:ahLst/>
              <a:cxnLst/>
              <a:rect l="l" t="t" r="r" b="b"/>
              <a:pathLst>
                <a:path w="2320816" h="1578832">
                  <a:moveTo>
                    <a:pt x="9564" y="0"/>
                  </a:moveTo>
                  <a:lnTo>
                    <a:pt x="2311252" y="0"/>
                  </a:lnTo>
                  <a:cubicBezTo>
                    <a:pt x="2316534" y="0"/>
                    <a:pt x="2320816" y="4282"/>
                    <a:pt x="2320816" y="9564"/>
                  </a:cubicBezTo>
                  <a:lnTo>
                    <a:pt x="2320816" y="1569268"/>
                  </a:lnTo>
                  <a:cubicBezTo>
                    <a:pt x="2320816" y="1574550"/>
                    <a:pt x="2316534" y="1578832"/>
                    <a:pt x="2311252" y="1578832"/>
                  </a:cubicBezTo>
                  <a:lnTo>
                    <a:pt x="9564" y="1578832"/>
                  </a:lnTo>
                  <a:cubicBezTo>
                    <a:pt x="4282" y="1578832"/>
                    <a:pt x="0" y="1574550"/>
                    <a:pt x="0" y="1569268"/>
                  </a:cubicBezTo>
                  <a:lnTo>
                    <a:pt x="0" y="9564"/>
                  </a:lnTo>
                  <a:cubicBezTo>
                    <a:pt x="0" y="4282"/>
                    <a:pt x="4282" y="0"/>
                    <a:pt x="9564" y="0"/>
                  </a:cubicBezTo>
                  <a:close/>
                </a:path>
              </a:pathLst>
            </a:custGeom>
            <a:solidFill>
              <a:srgbClr val="D0121F">
                <a:alpha val="91765"/>
              </a:srgbClr>
            </a:solidFill>
            <a:ln w="9525" cap="sq">
              <a:solidFill>
                <a:srgbClr val="5566B8">
                  <a:alpha val="91765"/>
                </a:srgbClr>
              </a:solidFill>
              <a:prstDash val="solid"/>
              <a:miter/>
            </a:ln>
          </p:spPr>
        </p:sp>
        <p:sp>
          <p:nvSpPr>
            <p:cNvPr id="4" name="TextBox 4"/>
            <p:cNvSpPr txBox="1"/>
            <p:nvPr/>
          </p:nvSpPr>
          <p:spPr>
            <a:xfrm>
              <a:off x="0" y="-28575"/>
              <a:ext cx="2320815" cy="1607407"/>
            </a:xfrm>
            <a:prstGeom prst="rect">
              <a:avLst/>
            </a:prstGeom>
          </p:spPr>
          <p:txBody>
            <a:bodyPr lIns="50800" tIns="50800" rIns="50800" bIns="50800" rtlCol="0" anchor="ctr"/>
            <a:lstStyle/>
            <a:p>
              <a:pPr algn="ctr">
                <a:lnSpc>
                  <a:spcPts val="1600"/>
                </a:lnSpc>
              </a:pPr>
              <a:endParaRPr/>
            </a:p>
          </p:txBody>
        </p:sp>
      </p:grpSp>
      <p:sp>
        <p:nvSpPr>
          <p:cNvPr id="5" name="AutoShape 5"/>
          <p:cNvSpPr/>
          <p:nvPr/>
        </p:nvSpPr>
        <p:spPr>
          <a:xfrm>
            <a:off x="535898" y="3734475"/>
            <a:ext cx="6488205" cy="0"/>
          </a:xfrm>
          <a:prstGeom prst="line">
            <a:avLst/>
          </a:prstGeom>
          <a:ln w="19050" cap="flat">
            <a:solidFill>
              <a:srgbClr val="080720">
                <a:alpha val="74902"/>
              </a:srgbClr>
            </a:solidFill>
            <a:prstDash val="solid"/>
            <a:headEnd type="none" w="sm" len="sm"/>
            <a:tailEnd type="none" w="sm" len="sm"/>
          </a:ln>
        </p:spPr>
      </p:sp>
      <p:sp>
        <p:nvSpPr>
          <p:cNvPr id="6" name="AutoShape 6"/>
          <p:cNvSpPr/>
          <p:nvPr/>
        </p:nvSpPr>
        <p:spPr>
          <a:xfrm>
            <a:off x="535898" y="9961275"/>
            <a:ext cx="6488205" cy="0"/>
          </a:xfrm>
          <a:prstGeom prst="line">
            <a:avLst/>
          </a:prstGeom>
          <a:ln w="19050" cap="flat">
            <a:solidFill>
              <a:srgbClr val="080720">
                <a:alpha val="74902"/>
              </a:srgbClr>
            </a:solidFill>
            <a:prstDash val="solid"/>
            <a:headEnd type="none" w="sm" len="sm"/>
            <a:tailEnd type="none" w="sm" len="sm"/>
          </a:ln>
        </p:spPr>
      </p:sp>
      <p:sp>
        <p:nvSpPr>
          <p:cNvPr id="7" name="AutoShape 7"/>
          <p:cNvSpPr/>
          <p:nvPr/>
        </p:nvSpPr>
        <p:spPr>
          <a:xfrm>
            <a:off x="756000" y="6936038"/>
            <a:ext cx="6048000" cy="9525"/>
          </a:xfrm>
          <a:prstGeom prst="line">
            <a:avLst/>
          </a:prstGeom>
          <a:ln w="9525" cap="flat">
            <a:solidFill>
              <a:srgbClr val="080720">
                <a:alpha val="49804"/>
              </a:srgbClr>
            </a:solidFill>
            <a:prstDash val="solid"/>
            <a:headEnd type="none" w="sm" len="sm"/>
            <a:tailEnd type="none" w="sm" len="sm"/>
          </a:ln>
        </p:spPr>
      </p:sp>
      <p:grpSp>
        <p:nvGrpSpPr>
          <p:cNvPr id="8" name="Group 8"/>
          <p:cNvGrpSpPr/>
          <p:nvPr/>
        </p:nvGrpSpPr>
        <p:grpSpPr>
          <a:xfrm>
            <a:off x="749846" y="5746500"/>
            <a:ext cx="6048000" cy="400500"/>
            <a:chOff x="0" y="0"/>
            <a:chExt cx="2167467" cy="143530"/>
          </a:xfrm>
        </p:grpSpPr>
        <p:sp>
          <p:nvSpPr>
            <p:cNvPr id="9" name="Freeform 9"/>
            <p:cNvSpPr/>
            <p:nvPr/>
          </p:nvSpPr>
          <p:spPr>
            <a:xfrm>
              <a:off x="0" y="0"/>
              <a:ext cx="2167467" cy="143530"/>
            </a:xfrm>
            <a:custGeom>
              <a:avLst/>
              <a:gdLst/>
              <a:ahLst/>
              <a:cxnLst/>
              <a:rect l="l" t="t" r="r" b="b"/>
              <a:pathLst>
                <a:path w="2167467" h="143530">
                  <a:moveTo>
                    <a:pt x="0" y="0"/>
                  </a:moveTo>
                  <a:lnTo>
                    <a:pt x="2167467" y="0"/>
                  </a:lnTo>
                  <a:lnTo>
                    <a:pt x="2167467" y="143530"/>
                  </a:lnTo>
                  <a:lnTo>
                    <a:pt x="0" y="143530"/>
                  </a:lnTo>
                  <a:close/>
                </a:path>
              </a:pathLst>
            </a:custGeom>
            <a:solidFill>
              <a:srgbClr val="080720"/>
            </a:solidFill>
          </p:spPr>
        </p:sp>
        <p:sp>
          <p:nvSpPr>
            <p:cNvPr id="10" name="TextBox 10"/>
            <p:cNvSpPr txBox="1"/>
            <p:nvPr/>
          </p:nvSpPr>
          <p:spPr>
            <a:xfrm>
              <a:off x="0" y="-28575"/>
              <a:ext cx="2167467" cy="172105"/>
            </a:xfrm>
            <a:prstGeom prst="rect">
              <a:avLst/>
            </a:prstGeom>
          </p:spPr>
          <p:txBody>
            <a:bodyPr lIns="50800" tIns="50800" rIns="50800" bIns="50800" rtlCol="0" anchor="ctr"/>
            <a:lstStyle/>
            <a:p>
              <a:pPr algn="ctr">
                <a:lnSpc>
                  <a:spcPts val="1620"/>
                </a:lnSpc>
              </a:pPr>
              <a:endParaRPr/>
            </a:p>
          </p:txBody>
        </p:sp>
      </p:grpSp>
      <p:sp>
        <p:nvSpPr>
          <p:cNvPr id="11" name="TextBox 11"/>
          <p:cNvSpPr txBox="1"/>
          <p:nvPr/>
        </p:nvSpPr>
        <p:spPr>
          <a:xfrm>
            <a:off x="535898" y="663825"/>
            <a:ext cx="6480000" cy="1343025"/>
          </a:xfrm>
          <a:prstGeom prst="rect">
            <a:avLst/>
          </a:prstGeom>
        </p:spPr>
        <p:txBody>
          <a:bodyPr lIns="0" tIns="0" rIns="0" bIns="0" rtlCol="0" anchor="t">
            <a:spAutoFit/>
          </a:bodyPr>
          <a:lstStyle/>
          <a:p>
            <a:pPr algn="l">
              <a:lnSpc>
                <a:spcPts val="5130"/>
              </a:lnSpc>
            </a:pPr>
            <a:r>
              <a:rPr lang="en-US" sz="5400" spc="-216">
                <a:solidFill>
                  <a:srgbClr val="080720"/>
                </a:solidFill>
                <a:latin typeface="TT Interphases" panose="02000503020000020004"/>
                <a:ea typeface="TT Interphases" panose="02000503020000020004"/>
                <a:cs typeface="TT Interphases" panose="02000503020000020004"/>
                <a:sym typeface="TT Interphases" panose="02000503020000020004"/>
              </a:rPr>
              <a:t>Conclusion and Recommendations</a:t>
            </a:r>
          </a:p>
        </p:txBody>
      </p:sp>
      <p:sp>
        <p:nvSpPr>
          <p:cNvPr id="12" name="TextBox 12"/>
          <p:cNvSpPr txBox="1"/>
          <p:nvPr/>
        </p:nvSpPr>
        <p:spPr>
          <a:xfrm>
            <a:off x="548205" y="2324775"/>
            <a:ext cx="6475898" cy="1200150"/>
          </a:xfrm>
          <a:prstGeom prst="rect">
            <a:avLst/>
          </a:prstGeom>
        </p:spPr>
        <p:txBody>
          <a:bodyPr lIns="0" tIns="0" rIns="0" bIns="0" rtlCol="0" anchor="t">
            <a:spAutoFit/>
          </a:bodyPr>
          <a:lstStyle/>
          <a:p>
            <a:pPr algn="l">
              <a:lnSpc>
                <a:spcPts val="1920"/>
              </a:lnSpc>
            </a:pPr>
            <a:r>
              <a:rPr lang="en-US" sz="1600" spc="-39">
                <a:solidFill>
                  <a:srgbClr val="080720"/>
                </a:solidFill>
                <a:latin typeface="TT Interphases" panose="02000503020000020004"/>
                <a:ea typeface="TT Interphases" panose="02000503020000020004"/>
                <a:cs typeface="TT Interphases" panose="02000503020000020004"/>
                <a:sym typeface="TT Interphases" panose="02000503020000020004"/>
              </a:rPr>
              <a:t>The dataset displays clear and consistent patterns connecting symptoms, lifestyle behaviors, and genetic factors to lung cancer severity. These relationships are strong and show minimal overlap between severity groups. Because the dataset is clean, structured, and synthetic, the models achieve perfect accuracy.</a:t>
            </a:r>
          </a:p>
        </p:txBody>
      </p:sp>
      <p:sp>
        <p:nvSpPr>
          <p:cNvPr id="13" name="TextBox 13"/>
          <p:cNvSpPr txBox="1"/>
          <p:nvPr/>
        </p:nvSpPr>
        <p:spPr>
          <a:xfrm>
            <a:off x="5372602" y="10132950"/>
            <a:ext cx="1651500" cy="139336"/>
          </a:xfrm>
          <a:prstGeom prst="rect">
            <a:avLst/>
          </a:prstGeom>
        </p:spPr>
        <p:txBody>
          <a:bodyPr lIns="0" tIns="0" rIns="0" bIns="0" rtlCol="0" anchor="t">
            <a:spAutoFit/>
          </a:bodyPr>
          <a:lstStyle/>
          <a:p>
            <a:pPr algn="r">
              <a:lnSpc>
                <a:spcPts val="1080"/>
              </a:lnSpc>
            </a:pPr>
            <a:r>
              <a:rPr lang="en-US" sz="800" b="1">
                <a:solidFill>
                  <a:srgbClr val="080720"/>
                </a:solidFill>
                <a:latin typeface="JetBrains Mono Medium" panose="02010609020102050004"/>
                <a:ea typeface="JetBrains Mono Medium" panose="02010609020102050004"/>
                <a:cs typeface="JetBrains Mono Medium" panose="02010609020102050004"/>
                <a:sym typeface="JetBrains Mono Medium" panose="02010609020102050004"/>
              </a:rPr>
              <a:t>10</a:t>
            </a:r>
          </a:p>
        </p:txBody>
      </p:sp>
      <p:sp>
        <p:nvSpPr>
          <p:cNvPr id="14" name="TextBox 14"/>
          <p:cNvSpPr txBox="1"/>
          <p:nvPr/>
        </p:nvSpPr>
        <p:spPr>
          <a:xfrm>
            <a:off x="540000" y="3846927"/>
            <a:ext cx="6257831" cy="1194048"/>
          </a:xfrm>
          <a:prstGeom prst="rect">
            <a:avLst/>
          </a:prstGeom>
        </p:spPr>
        <p:txBody>
          <a:bodyPr lIns="0" tIns="0" rIns="0" bIns="0" rtlCol="0" anchor="t">
            <a:spAutoFit/>
          </a:bodyPr>
          <a:lstStyle/>
          <a:p>
            <a:pPr algn="just">
              <a:lnSpc>
                <a:spcPts val="1600"/>
              </a:lnSpc>
            </a:pPr>
            <a:r>
              <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rPr>
              <a:t>All major machine learning models reach 100 percent accuracy because:</a:t>
            </a:r>
          </a:p>
          <a:p>
            <a:pPr marL="238760" lvl="1" indent="-119380" algn="just">
              <a:lnSpc>
                <a:spcPts val="1600"/>
              </a:lnSpc>
              <a:buFont typeface="Arial" panose="020B0604020202020204"/>
              <a:buChar char="•"/>
            </a:pPr>
            <a:r>
              <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rPr>
              <a:t>The severity levels are cleanly separable based on the predictors.</a:t>
            </a:r>
          </a:p>
          <a:p>
            <a:pPr marL="238760" lvl="1" indent="-119380" algn="just">
              <a:lnSpc>
                <a:spcPts val="1600"/>
              </a:lnSpc>
              <a:buFont typeface="Arial" panose="020B0604020202020204"/>
              <a:buChar char="•"/>
            </a:pPr>
            <a:r>
              <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rPr>
              <a:t>Symptoms and risk factors follow consistent and predictable increases across severity levels.</a:t>
            </a:r>
          </a:p>
          <a:p>
            <a:pPr marL="238760" lvl="1" indent="-119380" algn="just">
              <a:lnSpc>
                <a:spcPts val="1600"/>
              </a:lnSpc>
              <a:buFont typeface="Arial" panose="020B0604020202020204"/>
              <a:buChar char="•"/>
            </a:pPr>
            <a:r>
              <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rPr>
              <a:t>There is no noise, missing data, or conflicting patterns.</a:t>
            </a:r>
          </a:p>
          <a:p>
            <a:pPr marL="238760" lvl="1" indent="-119380" algn="just">
              <a:lnSpc>
                <a:spcPts val="1600"/>
              </a:lnSpc>
              <a:buFont typeface="Arial" panose="020B0604020202020204"/>
              <a:buChar char="•"/>
            </a:pPr>
            <a:r>
              <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rPr>
              <a:t>Severe cases show extreme values that make classification straightforward.</a:t>
            </a:r>
          </a:p>
          <a:p>
            <a:pPr marL="0" lvl="0" indent="0" algn="just">
              <a:lnSpc>
                <a:spcPts val="1600"/>
              </a:lnSpc>
              <a:spcBef>
                <a:spcPct val="0"/>
              </a:spcBef>
            </a:pPr>
            <a:endPar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endParaRPr>
          </a:p>
        </p:txBody>
      </p:sp>
      <p:sp>
        <p:nvSpPr>
          <p:cNvPr id="15" name="TextBox 15"/>
          <p:cNvSpPr txBox="1"/>
          <p:nvPr/>
        </p:nvSpPr>
        <p:spPr>
          <a:xfrm>
            <a:off x="749846" y="5298600"/>
            <a:ext cx="6048000" cy="247650"/>
          </a:xfrm>
          <a:prstGeom prst="rect">
            <a:avLst/>
          </a:prstGeom>
        </p:spPr>
        <p:txBody>
          <a:bodyPr lIns="0" tIns="0" rIns="0" bIns="0" rtlCol="0" anchor="t">
            <a:spAutoFit/>
          </a:bodyPr>
          <a:lstStyle/>
          <a:p>
            <a:pPr algn="l">
              <a:lnSpc>
                <a:spcPts val="1920"/>
              </a:lnSpc>
            </a:pPr>
            <a:r>
              <a:rPr lang="en-US" sz="1600" spc="-39">
                <a:solidFill>
                  <a:srgbClr val="080720"/>
                </a:solidFill>
                <a:latin typeface="TT Interphases" panose="02000503020000020004"/>
                <a:ea typeface="TT Interphases" panose="02000503020000020004"/>
                <a:cs typeface="TT Interphases" panose="02000503020000020004"/>
                <a:sym typeface="TT Interphases" panose="02000503020000020004"/>
              </a:rPr>
              <a:t>Next steps</a:t>
            </a:r>
          </a:p>
        </p:txBody>
      </p:sp>
      <p:sp>
        <p:nvSpPr>
          <p:cNvPr id="16" name="TextBox 16"/>
          <p:cNvSpPr txBox="1"/>
          <p:nvPr/>
        </p:nvSpPr>
        <p:spPr>
          <a:xfrm>
            <a:off x="1386000" y="5835707"/>
            <a:ext cx="1692000" cy="193527"/>
          </a:xfrm>
          <a:prstGeom prst="rect">
            <a:avLst/>
          </a:prstGeom>
        </p:spPr>
        <p:txBody>
          <a:bodyPr lIns="0" tIns="0" rIns="0" bIns="0" rtlCol="0" anchor="t">
            <a:spAutoFit/>
          </a:bodyPr>
          <a:lstStyle/>
          <a:p>
            <a:pPr algn="just">
              <a:lnSpc>
                <a:spcPts val="1600"/>
              </a:lnSpc>
              <a:spcBef>
                <a:spcPct val="0"/>
              </a:spcBef>
            </a:pPr>
            <a:r>
              <a:rPr lang="en-US" sz="1105" b="1">
                <a:solidFill>
                  <a:srgbClr val="DBDBDD"/>
                </a:solidFill>
                <a:latin typeface="TT Interphases Bold" panose="02000803060000020004"/>
                <a:ea typeface="TT Interphases Bold" panose="02000803060000020004"/>
                <a:cs typeface="TT Interphases Bold" panose="02000803060000020004"/>
                <a:sym typeface="TT Interphases Bold" panose="02000803060000020004"/>
              </a:rPr>
              <a:t>Recommendations</a:t>
            </a:r>
          </a:p>
        </p:txBody>
      </p:sp>
      <p:sp>
        <p:nvSpPr>
          <p:cNvPr id="17" name="TextBox 17"/>
          <p:cNvSpPr txBox="1"/>
          <p:nvPr/>
        </p:nvSpPr>
        <p:spPr>
          <a:xfrm>
            <a:off x="5616000" y="5835707"/>
            <a:ext cx="1181846" cy="193527"/>
          </a:xfrm>
          <a:prstGeom prst="rect">
            <a:avLst/>
          </a:prstGeom>
        </p:spPr>
        <p:txBody>
          <a:bodyPr lIns="0" tIns="0" rIns="0" bIns="0" rtlCol="0" anchor="t">
            <a:spAutoFit/>
          </a:bodyPr>
          <a:lstStyle/>
          <a:p>
            <a:pPr algn="ctr">
              <a:lnSpc>
                <a:spcPts val="1600"/>
              </a:lnSpc>
              <a:spcBef>
                <a:spcPct val="0"/>
              </a:spcBef>
            </a:pPr>
            <a:r>
              <a:rPr lang="en-US" sz="1105" b="1">
                <a:solidFill>
                  <a:srgbClr val="DBDBDD"/>
                </a:solidFill>
                <a:latin typeface="TT Interphases Bold" panose="02000803060000020004"/>
                <a:ea typeface="TT Interphases Bold" panose="02000803060000020004"/>
                <a:cs typeface="TT Interphases Bold" panose="02000803060000020004"/>
                <a:sym typeface="TT Interphases Bold" panose="02000803060000020004"/>
              </a:rPr>
              <a:t>Priority</a:t>
            </a:r>
          </a:p>
        </p:txBody>
      </p:sp>
      <p:sp>
        <p:nvSpPr>
          <p:cNvPr id="18" name="TextBox 18"/>
          <p:cNvSpPr txBox="1"/>
          <p:nvPr/>
        </p:nvSpPr>
        <p:spPr>
          <a:xfrm>
            <a:off x="749846" y="5835699"/>
            <a:ext cx="558000" cy="193510"/>
          </a:xfrm>
          <a:prstGeom prst="rect">
            <a:avLst/>
          </a:prstGeom>
        </p:spPr>
        <p:txBody>
          <a:bodyPr lIns="0" tIns="0" rIns="0" bIns="0" rtlCol="0" anchor="t">
            <a:spAutoFit/>
          </a:bodyPr>
          <a:lstStyle/>
          <a:p>
            <a:pPr algn="ctr">
              <a:lnSpc>
                <a:spcPts val="1600"/>
              </a:lnSpc>
              <a:spcBef>
                <a:spcPct val="0"/>
              </a:spcBef>
            </a:pPr>
            <a:r>
              <a:rPr lang="en-US" sz="1105" b="1">
                <a:solidFill>
                  <a:srgbClr val="DBDBDD"/>
                </a:solidFill>
                <a:latin typeface="TT Interphases Bold" panose="02000803060000020004"/>
                <a:ea typeface="TT Interphases Bold" panose="02000803060000020004"/>
                <a:cs typeface="TT Interphases Bold" panose="02000803060000020004"/>
                <a:sym typeface="TT Interphases Bold" panose="02000803060000020004"/>
              </a:rPr>
              <a:t>#</a:t>
            </a:r>
          </a:p>
        </p:txBody>
      </p:sp>
      <p:sp>
        <p:nvSpPr>
          <p:cNvPr id="19" name="TextBox 19"/>
          <p:cNvSpPr txBox="1"/>
          <p:nvPr/>
        </p:nvSpPr>
        <p:spPr>
          <a:xfrm>
            <a:off x="1386000" y="6225680"/>
            <a:ext cx="3942000" cy="393684"/>
          </a:xfrm>
          <a:prstGeom prst="rect">
            <a:avLst/>
          </a:prstGeom>
        </p:spPr>
        <p:txBody>
          <a:bodyPr lIns="0" tIns="0" rIns="0" bIns="0" rtlCol="0" anchor="t">
            <a:spAutoFit/>
          </a:bodyPr>
          <a:lstStyle/>
          <a:p>
            <a:pPr marL="0" lvl="0" indent="0" algn="just">
              <a:lnSpc>
                <a:spcPts val="1600"/>
              </a:lnSpc>
              <a:spcBef>
                <a:spcPct val="0"/>
              </a:spcBef>
            </a:pPr>
            <a:r>
              <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rPr>
              <a:t>Us</a:t>
            </a:r>
            <a:r>
              <a:rPr lang="en-US" sz="1105" u="none" strike="noStrike">
                <a:solidFill>
                  <a:srgbClr val="080720"/>
                </a:solidFill>
                <a:latin typeface="TT Interphases" panose="02000503020000020004"/>
                <a:ea typeface="TT Interphases" panose="02000503020000020004"/>
                <a:cs typeface="TT Interphases" panose="02000503020000020004"/>
                <a:sym typeface="TT Interphases" panose="02000503020000020004"/>
              </a:rPr>
              <a:t>e symptom severity, smoking behavior, and passive smoking exposure as primary indicators for rapid screening.</a:t>
            </a:r>
          </a:p>
        </p:txBody>
      </p:sp>
      <p:sp>
        <p:nvSpPr>
          <p:cNvPr id="20" name="TextBox 20"/>
          <p:cNvSpPr txBox="1"/>
          <p:nvPr/>
        </p:nvSpPr>
        <p:spPr>
          <a:xfrm>
            <a:off x="826046" y="6236649"/>
            <a:ext cx="405600" cy="193527"/>
          </a:xfrm>
          <a:prstGeom prst="rect">
            <a:avLst/>
          </a:prstGeom>
        </p:spPr>
        <p:txBody>
          <a:bodyPr lIns="0" tIns="0" rIns="0" bIns="0" rtlCol="0" anchor="t">
            <a:spAutoFit/>
          </a:bodyPr>
          <a:lstStyle/>
          <a:p>
            <a:pPr marL="0" lvl="0" indent="0" algn="ctr">
              <a:lnSpc>
                <a:spcPts val="1600"/>
              </a:lnSpc>
              <a:spcBef>
                <a:spcPct val="0"/>
              </a:spcBef>
            </a:pPr>
            <a:r>
              <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rPr>
              <a:t>1</a:t>
            </a:r>
          </a:p>
        </p:txBody>
      </p:sp>
      <p:grpSp>
        <p:nvGrpSpPr>
          <p:cNvPr id="21" name="Group 21"/>
          <p:cNvGrpSpPr/>
          <p:nvPr/>
        </p:nvGrpSpPr>
        <p:grpSpPr>
          <a:xfrm>
            <a:off x="5897201" y="6284212"/>
            <a:ext cx="698594" cy="263288"/>
            <a:chOff x="0" y="0"/>
            <a:chExt cx="250360" cy="94356"/>
          </a:xfrm>
        </p:grpSpPr>
        <p:sp>
          <p:nvSpPr>
            <p:cNvPr id="22" name="Freeform 22"/>
            <p:cNvSpPr/>
            <p:nvPr/>
          </p:nvSpPr>
          <p:spPr>
            <a:xfrm>
              <a:off x="0" y="0"/>
              <a:ext cx="250360" cy="94356"/>
            </a:xfrm>
            <a:custGeom>
              <a:avLst/>
              <a:gdLst/>
              <a:ahLst/>
              <a:cxnLst/>
              <a:rect l="l" t="t" r="r" b="b"/>
              <a:pathLst>
                <a:path w="250360" h="94356">
                  <a:moveTo>
                    <a:pt x="47178" y="0"/>
                  </a:moveTo>
                  <a:lnTo>
                    <a:pt x="203182" y="0"/>
                  </a:lnTo>
                  <a:cubicBezTo>
                    <a:pt x="215694" y="0"/>
                    <a:pt x="227694" y="4971"/>
                    <a:pt x="236542" y="13818"/>
                  </a:cubicBezTo>
                  <a:cubicBezTo>
                    <a:pt x="245390" y="22666"/>
                    <a:pt x="250360" y="34666"/>
                    <a:pt x="250360" y="47178"/>
                  </a:cubicBezTo>
                  <a:lnTo>
                    <a:pt x="250360" y="47178"/>
                  </a:lnTo>
                  <a:cubicBezTo>
                    <a:pt x="250360" y="73234"/>
                    <a:pt x="229238" y="94356"/>
                    <a:pt x="203182" y="94356"/>
                  </a:cubicBezTo>
                  <a:lnTo>
                    <a:pt x="47178" y="94356"/>
                  </a:lnTo>
                  <a:cubicBezTo>
                    <a:pt x="34666" y="94356"/>
                    <a:pt x="22666" y="89386"/>
                    <a:pt x="13818" y="80538"/>
                  </a:cubicBezTo>
                  <a:cubicBezTo>
                    <a:pt x="4971" y="71691"/>
                    <a:pt x="0" y="59691"/>
                    <a:pt x="0" y="47178"/>
                  </a:cubicBezTo>
                  <a:lnTo>
                    <a:pt x="0" y="47178"/>
                  </a:lnTo>
                  <a:cubicBezTo>
                    <a:pt x="0" y="34666"/>
                    <a:pt x="4971" y="22666"/>
                    <a:pt x="13818" y="13818"/>
                  </a:cubicBezTo>
                  <a:cubicBezTo>
                    <a:pt x="22666" y="4971"/>
                    <a:pt x="34666" y="0"/>
                    <a:pt x="47178" y="0"/>
                  </a:cubicBezTo>
                  <a:close/>
                </a:path>
              </a:pathLst>
            </a:custGeom>
            <a:solidFill>
              <a:srgbClr val="00BF63">
                <a:alpha val="74902"/>
              </a:srgbClr>
            </a:solidFill>
            <a:ln w="9525" cap="rnd">
              <a:solidFill>
                <a:srgbClr val="AFB0F6">
                  <a:alpha val="74902"/>
                </a:srgbClr>
              </a:solidFill>
              <a:prstDash val="solid"/>
              <a:round/>
            </a:ln>
          </p:spPr>
        </p:sp>
        <p:sp>
          <p:nvSpPr>
            <p:cNvPr id="23" name="TextBox 23"/>
            <p:cNvSpPr txBox="1"/>
            <p:nvPr/>
          </p:nvSpPr>
          <p:spPr>
            <a:xfrm>
              <a:off x="0" y="-28575"/>
              <a:ext cx="250360" cy="122931"/>
            </a:xfrm>
            <a:prstGeom prst="rect">
              <a:avLst/>
            </a:prstGeom>
          </p:spPr>
          <p:txBody>
            <a:bodyPr lIns="50800" tIns="50800" rIns="50800" bIns="50800" rtlCol="0" anchor="ctr"/>
            <a:lstStyle/>
            <a:p>
              <a:pPr algn="ctr">
                <a:lnSpc>
                  <a:spcPts val="1600"/>
                </a:lnSpc>
              </a:pPr>
              <a:endParaRPr/>
            </a:p>
          </p:txBody>
        </p:sp>
      </p:grpSp>
      <p:grpSp>
        <p:nvGrpSpPr>
          <p:cNvPr id="24" name="Group 24"/>
          <p:cNvGrpSpPr/>
          <p:nvPr/>
        </p:nvGrpSpPr>
        <p:grpSpPr>
          <a:xfrm>
            <a:off x="6033803" y="6368419"/>
            <a:ext cx="94875" cy="94875"/>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0720"/>
            </a:solidFill>
          </p:spPr>
        </p:sp>
        <p:sp>
          <p:nvSpPr>
            <p:cNvPr id="26" name="TextBox 26"/>
            <p:cNvSpPr txBox="1"/>
            <p:nvPr/>
          </p:nvSpPr>
          <p:spPr>
            <a:xfrm>
              <a:off x="76200" y="47625"/>
              <a:ext cx="660400" cy="688975"/>
            </a:xfrm>
            <a:prstGeom prst="rect">
              <a:avLst/>
            </a:prstGeom>
          </p:spPr>
          <p:txBody>
            <a:bodyPr lIns="50800" tIns="50800" rIns="50800" bIns="50800" rtlCol="0" anchor="ctr"/>
            <a:lstStyle/>
            <a:p>
              <a:pPr algn="ctr">
                <a:lnSpc>
                  <a:spcPts val="1600"/>
                </a:lnSpc>
              </a:pPr>
              <a:endParaRPr/>
            </a:p>
          </p:txBody>
        </p:sp>
      </p:grpSp>
      <p:sp>
        <p:nvSpPr>
          <p:cNvPr id="27" name="TextBox 27"/>
          <p:cNvSpPr txBox="1"/>
          <p:nvPr/>
        </p:nvSpPr>
        <p:spPr>
          <a:xfrm>
            <a:off x="6128678" y="6336693"/>
            <a:ext cx="330513" cy="139277"/>
          </a:xfrm>
          <a:prstGeom prst="rect">
            <a:avLst/>
          </a:prstGeom>
        </p:spPr>
        <p:txBody>
          <a:bodyPr lIns="0" tIns="0" rIns="0" bIns="0" rtlCol="0" anchor="t">
            <a:spAutoFit/>
          </a:bodyPr>
          <a:lstStyle/>
          <a:p>
            <a:pPr algn="r">
              <a:lnSpc>
                <a:spcPts val="1080"/>
              </a:lnSpc>
            </a:pPr>
            <a:r>
              <a:rPr lang="en-US" sz="800" b="1">
                <a:solidFill>
                  <a:srgbClr val="080720"/>
                </a:solidFill>
                <a:latin typeface="JetBrains Mono Medium" panose="02010609020102050004"/>
                <a:ea typeface="JetBrains Mono Medium" panose="02010609020102050004"/>
                <a:cs typeface="JetBrains Mono Medium" panose="02010609020102050004"/>
                <a:sym typeface="JetBrains Mono Medium" panose="02010609020102050004"/>
              </a:rPr>
              <a:t>HIGH</a:t>
            </a:r>
          </a:p>
        </p:txBody>
      </p:sp>
      <p:sp>
        <p:nvSpPr>
          <p:cNvPr id="28" name="AutoShape 28"/>
          <p:cNvSpPr/>
          <p:nvPr/>
        </p:nvSpPr>
        <p:spPr>
          <a:xfrm>
            <a:off x="756000" y="7744125"/>
            <a:ext cx="6048000" cy="9525"/>
          </a:xfrm>
          <a:prstGeom prst="line">
            <a:avLst/>
          </a:prstGeom>
          <a:ln w="9525" cap="flat">
            <a:solidFill>
              <a:srgbClr val="080720">
                <a:alpha val="49804"/>
              </a:srgbClr>
            </a:solidFill>
            <a:prstDash val="solid"/>
            <a:headEnd type="none" w="sm" len="sm"/>
            <a:tailEnd type="none" w="sm" len="sm"/>
          </a:ln>
        </p:spPr>
      </p:sp>
      <p:sp>
        <p:nvSpPr>
          <p:cNvPr id="29" name="TextBox 29"/>
          <p:cNvSpPr txBox="1"/>
          <p:nvPr/>
        </p:nvSpPr>
        <p:spPr>
          <a:xfrm>
            <a:off x="1386000" y="7033768"/>
            <a:ext cx="3942000" cy="393684"/>
          </a:xfrm>
          <a:prstGeom prst="rect">
            <a:avLst/>
          </a:prstGeom>
        </p:spPr>
        <p:txBody>
          <a:bodyPr lIns="0" tIns="0" rIns="0" bIns="0" rtlCol="0" anchor="t">
            <a:spAutoFit/>
          </a:bodyPr>
          <a:lstStyle/>
          <a:p>
            <a:pPr algn="just">
              <a:lnSpc>
                <a:spcPts val="1600"/>
              </a:lnSpc>
              <a:spcBef>
                <a:spcPct val="0"/>
              </a:spcBef>
            </a:pPr>
            <a:r>
              <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rPr>
              <a:t>Retrain the models on real clinical data to evaluate performance in real settings.</a:t>
            </a:r>
          </a:p>
        </p:txBody>
      </p:sp>
      <p:sp>
        <p:nvSpPr>
          <p:cNvPr id="30" name="TextBox 30"/>
          <p:cNvSpPr txBox="1"/>
          <p:nvPr/>
        </p:nvSpPr>
        <p:spPr>
          <a:xfrm>
            <a:off x="826046" y="7033768"/>
            <a:ext cx="405600" cy="193527"/>
          </a:xfrm>
          <a:prstGeom prst="rect">
            <a:avLst/>
          </a:prstGeom>
        </p:spPr>
        <p:txBody>
          <a:bodyPr lIns="0" tIns="0" rIns="0" bIns="0" rtlCol="0" anchor="t">
            <a:spAutoFit/>
          </a:bodyPr>
          <a:lstStyle/>
          <a:p>
            <a:pPr marL="0" lvl="0" indent="0" algn="ctr">
              <a:lnSpc>
                <a:spcPts val="1600"/>
              </a:lnSpc>
              <a:spcBef>
                <a:spcPct val="0"/>
              </a:spcBef>
            </a:pPr>
            <a:r>
              <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rPr>
              <a:t>2</a:t>
            </a:r>
          </a:p>
        </p:txBody>
      </p:sp>
      <p:grpSp>
        <p:nvGrpSpPr>
          <p:cNvPr id="31" name="Group 31"/>
          <p:cNvGrpSpPr/>
          <p:nvPr/>
        </p:nvGrpSpPr>
        <p:grpSpPr>
          <a:xfrm>
            <a:off x="5897201" y="7085212"/>
            <a:ext cx="698594" cy="263288"/>
            <a:chOff x="0" y="0"/>
            <a:chExt cx="250360" cy="94356"/>
          </a:xfrm>
        </p:grpSpPr>
        <p:sp>
          <p:nvSpPr>
            <p:cNvPr id="32" name="Freeform 32"/>
            <p:cNvSpPr/>
            <p:nvPr/>
          </p:nvSpPr>
          <p:spPr>
            <a:xfrm>
              <a:off x="0" y="0"/>
              <a:ext cx="250360" cy="94356"/>
            </a:xfrm>
            <a:custGeom>
              <a:avLst/>
              <a:gdLst/>
              <a:ahLst/>
              <a:cxnLst/>
              <a:rect l="l" t="t" r="r" b="b"/>
              <a:pathLst>
                <a:path w="250360" h="94356">
                  <a:moveTo>
                    <a:pt x="47178" y="0"/>
                  </a:moveTo>
                  <a:lnTo>
                    <a:pt x="203182" y="0"/>
                  </a:lnTo>
                  <a:cubicBezTo>
                    <a:pt x="215694" y="0"/>
                    <a:pt x="227694" y="4971"/>
                    <a:pt x="236542" y="13818"/>
                  </a:cubicBezTo>
                  <a:cubicBezTo>
                    <a:pt x="245390" y="22666"/>
                    <a:pt x="250360" y="34666"/>
                    <a:pt x="250360" y="47178"/>
                  </a:cubicBezTo>
                  <a:lnTo>
                    <a:pt x="250360" y="47178"/>
                  </a:lnTo>
                  <a:cubicBezTo>
                    <a:pt x="250360" y="73234"/>
                    <a:pt x="229238" y="94356"/>
                    <a:pt x="203182" y="94356"/>
                  </a:cubicBezTo>
                  <a:lnTo>
                    <a:pt x="47178" y="94356"/>
                  </a:lnTo>
                  <a:cubicBezTo>
                    <a:pt x="34666" y="94356"/>
                    <a:pt x="22666" y="89386"/>
                    <a:pt x="13818" y="80538"/>
                  </a:cubicBezTo>
                  <a:cubicBezTo>
                    <a:pt x="4971" y="71691"/>
                    <a:pt x="0" y="59691"/>
                    <a:pt x="0" y="47178"/>
                  </a:cubicBezTo>
                  <a:lnTo>
                    <a:pt x="0" y="47178"/>
                  </a:lnTo>
                  <a:cubicBezTo>
                    <a:pt x="0" y="34666"/>
                    <a:pt x="4971" y="22666"/>
                    <a:pt x="13818" y="13818"/>
                  </a:cubicBezTo>
                  <a:cubicBezTo>
                    <a:pt x="22666" y="4971"/>
                    <a:pt x="34666" y="0"/>
                    <a:pt x="47178" y="0"/>
                  </a:cubicBezTo>
                  <a:close/>
                </a:path>
              </a:pathLst>
            </a:custGeom>
            <a:solidFill>
              <a:srgbClr val="00BF63">
                <a:alpha val="74902"/>
              </a:srgbClr>
            </a:solidFill>
            <a:ln w="9525" cap="rnd">
              <a:solidFill>
                <a:srgbClr val="AFB0F6">
                  <a:alpha val="74902"/>
                </a:srgbClr>
              </a:solidFill>
              <a:prstDash val="solid"/>
              <a:round/>
            </a:ln>
          </p:spPr>
        </p:sp>
        <p:sp>
          <p:nvSpPr>
            <p:cNvPr id="33" name="TextBox 33"/>
            <p:cNvSpPr txBox="1"/>
            <p:nvPr/>
          </p:nvSpPr>
          <p:spPr>
            <a:xfrm>
              <a:off x="0" y="-28575"/>
              <a:ext cx="250360" cy="122931"/>
            </a:xfrm>
            <a:prstGeom prst="rect">
              <a:avLst/>
            </a:prstGeom>
          </p:spPr>
          <p:txBody>
            <a:bodyPr lIns="50800" tIns="50800" rIns="50800" bIns="50800" rtlCol="0" anchor="ctr"/>
            <a:lstStyle/>
            <a:p>
              <a:pPr algn="ctr">
                <a:lnSpc>
                  <a:spcPts val="1600"/>
                </a:lnSpc>
              </a:pPr>
              <a:endParaRPr/>
            </a:p>
          </p:txBody>
        </p:sp>
      </p:grpSp>
      <p:grpSp>
        <p:nvGrpSpPr>
          <p:cNvPr id="34" name="Group 34"/>
          <p:cNvGrpSpPr/>
          <p:nvPr/>
        </p:nvGrpSpPr>
        <p:grpSpPr>
          <a:xfrm>
            <a:off x="6019853" y="7169419"/>
            <a:ext cx="94875" cy="9487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0720"/>
            </a:solidFill>
          </p:spPr>
        </p:sp>
        <p:sp>
          <p:nvSpPr>
            <p:cNvPr id="36" name="TextBox 36"/>
            <p:cNvSpPr txBox="1"/>
            <p:nvPr/>
          </p:nvSpPr>
          <p:spPr>
            <a:xfrm>
              <a:off x="76200" y="47625"/>
              <a:ext cx="660400" cy="688975"/>
            </a:xfrm>
            <a:prstGeom prst="rect">
              <a:avLst/>
            </a:prstGeom>
          </p:spPr>
          <p:txBody>
            <a:bodyPr lIns="50800" tIns="50800" rIns="50800" bIns="50800" rtlCol="0" anchor="ctr"/>
            <a:lstStyle/>
            <a:p>
              <a:pPr algn="ctr">
                <a:lnSpc>
                  <a:spcPts val="1600"/>
                </a:lnSpc>
              </a:pPr>
              <a:endParaRPr/>
            </a:p>
          </p:txBody>
        </p:sp>
      </p:grpSp>
      <p:sp>
        <p:nvSpPr>
          <p:cNvPr id="37" name="AutoShape 37"/>
          <p:cNvSpPr/>
          <p:nvPr/>
        </p:nvSpPr>
        <p:spPr>
          <a:xfrm>
            <a:off x="749831" y="8552212"/>
            <a:ext cx="6048000" cy="9525"/>
          </a:xfrm>
          <a:prstGeom prst="line">
            <a:avLst/>
          </a:prstGeom>
          <a:ln w="9525" cap="flat">
            <a:solidFill>
              <a:srgbClr val="080720">
                <a:alpha val="49804"/>
              </a:srgbClr>
            </a:solidFill>
            <a:prstDash val="solid"/>
            <a:headEnd type="none" w="sm" len="sm"/>
            <a:tailEnd type="none" w="sm" len="sm"/>
          </a:ln>
        </p:spPr>
      </p:sp>
      <p:sp>
        <p:nvSpPr>
          <p:cNvPr id="38" name="TextBox 38"/>
          <p:cNvSpPr txBox="1"/>
          <p:nvPr/>
        </p:nvSpPr>
        <p:spPr>
          <a:xfrm>
            <a:off x="1379831" y="7841855"/>
            <a:ext cx="3942000" cy="393684"/>
          </a:xfrm>
          <a:prstGeom prst="rect">
            <a:avLst/>
          </a:prstGeom>
        </p:spPr>
        <p:txBody>
          <a:bodyPr lIns="0" tIns="0" rIns="0" bIns="0" rtlCol="0" anchor="t">
            <a:spAutoFit/>
          </a:bodyPr>
          <a:lstStyle/>
          <a:p>
            <a:pPr marL="0" lvl="0" indent="0" algn="just">
              <a:lnSpc>
                <a:spcPts val="1600"/>
              </a:lnSpc>
              <a:spcBef>
                <a:spcPct val="0"/>
              </a:spcBef>
            </a:pPr>
            <a:r>
              <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rPr>
              <a:t>Combine lifestyle factors with symptom patterns to support early diagnosis.</a:t>
            </a:r>
          </a:p>
        </p:txBody>
      </p:sp>
      <p:sp>
        <p:nvSpPr>
          <p:cNvPr id="39" name="TextBox 39"/>
          <p:cNvSpPr txBox="1"/>
          <p:nvPr/>
        </p:nvSpPr>
        <p:spPr>
          <a:xfrm>
            <a:off x="819878" y="7841855"/>
            <a:ext cx="405600" cy="193527"/>
          </a:xfrm>
          <a:prstGeom prst="rect">
            <a:avLst/>
          </a:prstGeom>
        </p:spPr>
        <p:txBody>
          <a:bodyPr lIns="0" tIns="0" rIns="0" bIns="0" rtlCol="0" anchor="t">
            <a:spAutoFit/>
          </a:bodyPr>
          <a:lstStyle/>
          <a:p>
            <a:pPr marL="0" lvl="0" indent="0" algn="ctr">
              <a:lnSpc>
                <a:spcPts val="1600"/>
              </a:lnSpc>
              <a:spcBef>
                <a:spcPct val="0"/>
              </a:spcBef>
            </a:pPr>
            <a:r>
              <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rPr>
              <a:t>3</a:t>
            </a:r>
          </a:p>
        </p:txBody>
      </p:sp>
      <p:grpSp>
        <p:nvGrpSpPr>
          <p:cNvPr id="40" name="Group 40"/>
          <p:cNvGrpSpPr/>
          <p:nvPr/>
        </p:nvGrpSpPr>
        <p:grpSpPr>
          <a:xfrm>
            <a:off x="5897201" y="7891762"/>
            <a:ext cx="781371" cy="263288"/>
            <a:chOff x="0" y="0"/>
            <a:chExt cx="280026" cy="94356"/>
          </a:xfrm>
        </p:grpSpPr>
        <p:sp>
          <p:nvSpPr>
            <p:cNvPr id="41" name="Freeform 41"/>
            <p:cNvSpPr/>
            <p:nvPr/>
          </p:nvSpPr>
          <p:spPr>
            <a:xfrm>
              <a:off x="0" y="0"/>
              <a:ext cx="280026" cy="94356"/>
            </a:xfrm>
            <a:custGeom>
              <a:avLst/>
              <a:gdLst/>
              <a:ahLst/>
              <a:cxnLst/>
              <a:rect l="l" t="t" r="r" b="b"/>
              <a:pathLst>
                <a:path w="280026" h="94356">
                  <a:moveTo>
                    <a:pt x="47178" y="0"/>
                  </a:moveTo>
                  <a:lnTo>
                    <a:pt x="232847" y="0"/>
                  </a:lnTo>
                  <a:cubicBezTo>
                    <a:pt x="245360" y="0"/>
                    <a:pt x="257360" y="4971"/>
                    <a:pt x="266207" y="13818"/>
                  </a:cubicBezTo>
                  <a:cubicBezTo>
                    <a:pt x="275055" y="22666"/>
                    <a:pt x="280026" y="34666"/>
                    <a:pt x="280026" y="47178"/>
                  </a:cubicBezTo>
                  <a:lnTo>
                    <a:pt x="280026" y="47178"/>
                  </a:lnTo>
                  <a:cubicBezTo>
                    <a:pt x="280026" y="59691"/>
                    <a:pt x="275055" y="71691"/>
                    <a:pt x="266207" y="80538"/>
                  </a:cubicBezTo>
                  <a:cubicBezTo>
                    <a:pt x="257360" y="89386"/>
                    <a:pt x="245360" y="94356"/>
                    <a:pt x="232847" y="94356"/>
                  </a:cubicBezTo>
                  <a:lnTo>
                    <a:pt x="47178" y="94356"/>
                  </a:lnTo>
                  <a:cubicBezTo>
                    <a:pt x="34666" y="94356"/>
                    <a:pt x="22666" y="89386"/>
                    <a:pt x="13818" y="80538"/>
                  </a:cubicBezTo>
                  <a:cubicBezTo>
                    <a:pt x="4971" y="71691"/>
                    <a:pt x="0" y="59691"/>
                    <a:pt x="0" y="47178"/>
                  </a:cubicBezTo>
                  <a:lnTo>
                    <a:pt x="0" y="47178"/>
                  </a:lnTo>
                  <a:cubicBezTo>
                    <a:pt x="0" y="34666"/>
                    <a:pt x="4971" y="22666"/>
                    <a:pt x="13818" y="13818"/>
                  </a:cubicBezTo>
                  <a:cubicBezTo>
                    <a:pt x="22666" y="4971"/>
                    <a:pt x="34666" y="0"/>
                    <a:pt x="47178" y="0"/>
                  </a:cubicBezTo>
                  <a:close/>
                </a:path>
              </a:pathLst>
            </a:custGeom>
            <a:solidFill>
              <a:srgbClr val="00BF63">
                <a:alpha val="74902"/>
              </a:srgbClr>
            </a:solidFill>
            <a:ln w="9525" cap="rnd">
              <a:solidFill>
                <a:srgbClr val="AFB0F6">
                  <a:alpha val="74902"/>
                </a:srgbClr>
              </a:solidFill>
              <a:prstDash val="solid"/>
              <a:round/>
            </a:ln>
          </p:spPr>
        </p:sp>
        <p:sp>
          <p:nvSpPr>
            <p:cNvPr id="42" name="TextBox 42"/>
            <p:cNvSpPr txBox="1"/>
            <p:nvPr/>
          </p:nvSpPr>
          <p:spPr>
            <a:xfrm>
              <a:off x="0" y="-28575"/>
              <a:ext cx="280026" cy="122931"/>
            </a:xfrm>
            <a:prstGeom prst="rect">
              <a:avLst/>
            </a:prstGeom>
          </p:spPr>
          <p:txBody>
            <a:bodyPr lIns="50800" tIns="50800" rIns="50800" bIns="50800" rtlCol="0" anchor="ctr"/>
            <a:lstStyle/>
            <a:p>
              <a:pPr algn="ctr">
                <a:lnSpc>
                  <a:spcPts val="1600"/>
                </a:lnSpc>
              </a:pPr>
              <a:endParaRPr/>
            </a:p>
          </p:txBody>
        </p:sp>
      </p:grpSp>
      <p:sp>
        <p:nvSpPr>
          <p:cNvPr id="43" name="TextBox 43"/>
          <p:cNvSpPr txBox="1"/>
          <p:nvPr/>
        </p:nvSpPr>
        <p:spPr>
          <a:xfrm>
            <a:off x="6114728" y="7948912"/>
            <a:ext cx="440917" cy="139277"/>
          </a:xfrm>
          <a:prstGeom prst="rect">
            <a:avLst/>
          </a:prstGeom>
        </p:spPr>
        <p:txBody>
          <a:bodyPr lIns="0" tIns="0" rIns="0" bIns="0" rtlCol="0" anchor="t">
            <a:spAutoFit/>
          </a:bodyPr>
          <a:lstStyle/>
          <a:p>
            <a:pPr algn="r">
              <a:lnSpc>
                <a:spcPts val="1080"/>
              </a:lnSpc>
            </a:pPr>
            <a:r>
              <a:rPr lang="en-US" sz="800" b="1">
                <a:solidFill>
                  <a:srgbClr val="080720"/>
                </a:solidFill>
                <a:latin typeface="JetBrains Mono Medium" panose="02010609020102050004"/>
                <a:ea typeface="JetBrains Mono Medium" panose="02010609020102050004"/>
                <a:cs typeface="JetBrains Mono Medium" panose="02010609020102050004"/>
                <a:sym typeface="JetBrains Mono Medium" panose="02010609020102050004"/>
              </a:rPr>
              <a:t>MEDIUM</a:t>
            </a:r>
          </a:p>
        </p:txBody>
      </p:sp>
      <p:grpSp>
        <p:nvGrpSpPr>
          <p:cNvPr id="44" name="Group 44"/>
          <p:cNvGrpSpPr/>
          <p:nvPr/>
        </p:nvGrpSpPr>
        <p:grpSpPr>
          <a:xfrm>
            <a:off x="5986366" y="7975969"/>
            <a:ext cx="94875" cy="94875"/>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0720"/>
            </a:solidFill>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1600"/>
                </a:lnSpc>
              </a:pPr>
              <a:endParaRPr/>
            </a:p>
          </p:txBody>
        </p:sp>
      </p:grpSp>
      <p:sp>
        <p:nvSpPr>
          <p:cNvPr id="47" name="AutoShape 47"/>
          <p:cNvSpPr/>
          <p:nvPr/>
        </p:nvSpPr>
        <p:spPr>
          <a:xfrm>
            <a:off x="749831" y="9160275"/>
            <a:ext cx="6048000" cy="9525"/>
          </a:xfrm>
          <a:prstGeom prst="line">
            <a:avLst/>
          </a:prstGeom>
          <a:ln w="9525" cap="flat">
            <a:solidFill>
              <a:srgbClr val="080720">
                <a:alpha val="49804"/>
              </a:srgbClr>
            </a:solidFill>
            <a:prstDash val="solid"/>
            <a:headEnd type="none" w="sm" len="sm"/>
            <a:tailEnd type="none" w="sm" len="sm"/>
          </a:ln>
        </p:spPr>
      </p:sp>
      <p:sp>
        <p:nvSpPr>
          <p:cNvPr id="48" name="TextBox 48"/>
          <p:cNvSpPr txBox="1"/>
          <p:nvPr/>
        </p:nvSpPr>
        <p:spPr>
          <a:xfrm>
            <a:off x="1379831" y="8649943"/>
            <a:ext cx="3942000" cy="393684"/>
          </a:xfrm>
          <a:prstGeom prst="rect">
            <a:avLst/>
          </a:prstGeom>
        </p:spPr>
        <p:txBody>
          <a:bodyPr lIns="0" tIns="0" rIns="0" bIns="0" rtlCol="0" anchor="t">
            <a:spAutoFit/>
          </a:bodyPr>
          <a:lstStyle/>
          <a:p>
            <a:pPr algn="just">
              <a:lnSpc>
                <a:spcPts val="1600"/>
              </a:lnSpc>
              <a:spcBef>
                <a:spcPct val="0"/>
              </a:spcBef>
            </a:pPr>
            <a:r>
              <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rPr>
              <a:t>Validate the models across different medical centers to ensure generalizability. </a:t>
            </a:r>
          </a:p>
        </p:txBody>
      </p:sp>
      <p:sp>
        <p:nvSpPr>
          <p:cNvPr id="49" name="TextBox 49"/>
          <p:cNvSpPr txBox="1"/>
          <p:nvPr/>
        </p:nvSpPr>
        <p:spPr>
          <a:xfrm>
            <a:off x="826046" y="8649943"/>
            <a:ext cx="405600" cy="193527"/>
          </a:xfrm>
          <a:prstGeom prst="rect">
            <a:avLst/>
          </a:prstGeom>
        </p:spPr>
        <p:txBody>
          <a:bodyPr lIns="0" tIns="0" rIns="0" bIns="0" rtlCol="0" anchor="t">
            <a:spAutoFit/>
          </a:bodyPr>
          <a:lstStyle/>
          <a:p>
            <a:pPr marL="0" lvl="0" indent="0" algn="ctr">
              <a:lnSpc>
                <a:spcPts val="1600"/>
              </a:lnSpc>
              <a:spcBef>
                <a:spcPct val="0"/>
              </a:spcBef>
            </a:pPr>
            <a:r>
              <a:rPr lang="en-US" sz="1105">
                <a:solidFill>
                  <a:srgbClr val="080720"/>
                </a:solidFill>
                <a:latin typeface="TT Interphases" panose="02000503020000020004"/>
                <a:ea typeface="TT Interphases" panose="02000503020000020004"/>
                <a:cs typeface="TT Interphases" panose="02000503020000020004"/>
                <a:sym typeface="TT Interphases" panose="02000503020000020004"/>
              </a:rPr>
              <a:t>4</a:t>
            </a:r>
          </a:p>
        </p:txBody>
      </p:sp>
      <p:grpSp>
        <p:nvGrpSpPr>
          <p:cNvPr id="50" name="Group 50"/>
          <p:cNvGrpSpPr/>
          <p:nvPr/>
        </p:nvGrpSpPr>
        <p:grpSpPr>
          <a:xfrm>
            <a:off x="5897201" y="8687212"/>
            <a:ext cx="698594" cy="263288"/>
            <a:chOff x="0" y="0"/>
            <a:chExt cx="250360" cy="94356"/>
          </a:xfrm>
        </p:grpSpPr>
        <p:sp>
          <p:nvSpPr>
            <p:cNvPr id="51" name="Freeform 51"/>
            <p:cNvSpPr/>
            <p:nvPr/>
          </p:nvSpPr>
          <p:spPr>
            <a:xfrm>
              <a:off x="0" y="0"/>
              <a:ext cx="250360" cy="94356"/>
            </a:xfrm>
            <a:custGeom>
              <a:avLst/>
              <a:gdLst/>
              <a:ahLst/>
              <a:cxnLst/>
              <a:rect l="l" t="t" r="r" b="b"/>
              <a:pathLst>
                <a:path w="250360" h="94356">
                  <a:moveTo>
                    <a:pt x="47178" y="0"/>
                  </a:moveTo>
                  <a:lnTo>
                    <a:pt x="203182" y="0"/>
                  </a:lnTo>
                  <a:cubicBezTo>
                    <a:pt x="215694" y="0"/>
                    <a:pt x="227694" y="4971"/>
                    <a:pt x="236542" y="13818"/>
                  </a:cubicBezTo>
                  <a:cubicBezTo>
                    <a:pt x="245390" y="22666"/>
                    <a:pt x="250360" y="34666"/>
                    <a:pt x="250360" y="47178"/>
                  </a:cubicBezTo>
                  <a:lnTo>
                    <a:pt x="250360" y="47178"/>
                  </a:lnTo>
                  <a:cubicBezTo>
                    <a:pt x="250360" y="73234"/>
                    <a:pt x="229238" y="94356"/>
                    <a:pt x="203182" y="94356"/>
                  </a:cubicBezTo>
                  <a:lnTo>
                    <a:pt x="47178" y="94356"/>
                  </a:lnTo>
                  <a:cubicBezTo>
                    <a:pt x="34666" y="94356"/>
                    <a:pt x="22666" y="89386"/>
                    <a:pt x="13818" y="80538"/>
                  </a:cubicBezTo>
                  <a:cubicBezTo>
                    <a:pt x="4971" y="71691"/>
                    <a:pt x="0" y="59691"/>
                    <a:pt x="0" y="47178"/>
                  </a:cubicBezTo>
                  <a:lnTo>
                    <a:pt x="0" y="47178"/>
                  </a:lnTo>
                  <a:cubicBezTo>
                    <a:pt x="0" y="34666"/>
                    <a:pt x="4971" y="22666"/>
                    <a:pt x="13818" y="13818"/>
                  </a:cubicBezTo>
                  <a:cubicBezTo>
                    <a:pt x="22666" y="4971"/>
                    <a:pt x="34666" y="0"/>
                    <a:pt x="47178" y="0"/>
                  </a:cubicBezTo>
                  <a:close/>
                </a:path>
              </a:pathLst>
            </a:custGeom>
            <a:solidFill>
              <a:srgbClr val="00BF63">
                <a:alpha val="74902"/>
              </a:srgbClr>
            </a:solidFill>
            <a:ln w="9525" cap="rnd">
              <a:solidFill>
                <a:srgbClr val="AFB0F6">
                  <a:alpha val="74902"/>
                </a:srgbClr>
              </a:solidFill>
              <a:prstDash val="solid"/>
              <a:round/>
            </a:ln>
          </p:spPr>
        </p:sp>
        <p:sp>
          <p:nvSpPr>
            <p:cNvPr id="52" name="TextBox 52"/>
            <p:cNvSpPr txBox="1"/>
            <p:nvPr/>
          </p:nvSpPr>
          <p:spPr>
            <a:xfrm>
              <a:off x="0" y="-28575"/>
              <a:ext cx="250360" cy="122931"/>
            </a:xfrm>
            <a:prstGeom prst="rect">
              <a:avLst/>
            </a:prstGeom>
          </p:spPr>
          <p:txBody>
            <a:bodyPr lIns="50800" tIns="50800" rIns="50800" bIns="50800" rtlCol="0" anchor="ctr"/>
            <a:lstStyle/>
            <a:p>
              <a:pPr algn="ctr">
                <a:lnSpc>
                  <a:spcPts val="1600"/>
                </a:lnSpc>
              </a:pPr>
              <a:endParaRPr/>
            </a:p>
          </p:txBody>
        </p:sp>
      </p:grpSp>
      <p:sp>
        <p:nvSpPr>
          <p:cNvPr id="53" name="TextBox 53"/>
          <p:cNvSpPr txBox="1"/>
          <p:nvPr/>
        </p:nvSpPr>
        <p:spPr>
          <a:xfrm>
            <a:off x="6119511" y="8739693"/>
            <a:ext cx="281831" cy="139277"/>
          </a:xfrm>
          <a:prstGeom prst="rect">
            <a:avLst/>
          </a:prstGeom>
        </p:spPr>
        <p:txBody>
          <a:bodyPr lIns="0" tIns="0" rIns="0" bIns="0" rtlCol="0" anchor="t">
            <a:spAutoFit/>
          </a:bodyPr>
          <a:lstStyle/>
          <a:p>
            <a:pPr algn="r">
              <a:lnSpc>
                <a:spcPts val="1080"/>
              </a:lnSpc>
            </a:pPr>
            <a:r>
              <a:rPr lang="en-US" sz="800" b="1">
                <a:solidFill>
                  <a:srgbClr val="080720"/>
                </a:solidFill>
                <a:latin typeface="JetBrains Mono Medium" panose="02010609020102050004"/>
                <a:ea typeface="JetBrains Mono Medium" panose="02010609020102050004"/>
                <a:cs typeface="JetBrains Mono Medium" panose="02010609020102050004"/>
                <a:sym typeface="JetBrains Mono Medium" panose="02010609020102050004"/>
              </a:rPr>
              <a:t>LOW</a:t>
            </a:r>
          </a:p>
        </p:txBody>
      </p:sp>
      <p:grpSp>
        <p:nvGrpSpPr>
          <p:cNvPr id="54" name="Group 54"/>
          <p:cNvGrpSpPr/>
          <p:nvPr/>
        </p:nvGrpSpPr>
        <p:grpSpPr>
          <a:xfrm>
            <a:off x="6033803" y="8771419"/>
            <a:ext cx="94875" cy="94875"/>
            <a:chOff x="0" y="0"/>
            <a:chExt cx="812800" cy="812800"/>
          </a:xfrm>
        </p:grpSpPr>
        <p:sp>
          <p:nvSpPr>
            <p:cNvPr id="55" name="Freeform 5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0720"/>
            </a:solidFill>
          </p:spPr>
        </p:sp>
        <p:sp>
          <p:nvSpPr>
            <p:cNvPr id="56" name="TextBox 56"/>
            <p:cNvSpPr txBox="1"/>
            <p:nvPr/>
          </p:nvSpPr>
          <p:spPr>
            <a:xfrm>
              <a:off x="76200" y="47625"/>
              <a:ext cx="660400" cy="688975"/>
            </a:xfrm>
            <a:prstGeom prst="rect">
              <a:avLst/>
            </a:prstGeom>
          </p:spPr>
          <p:txBody>
            <a:bodyPr lIns="50800" tIns="50800" rIns="50800" bIns="50800" rtlCol="0" anchor="ctr"/>
            <a:lstStyle/>
            <a:p>
              <a:pPr algn="ctr">
                <a:lnSpc>
                  <a:spcPts val="1600"/>
                </a:lnSpc>
              </a:pPr>
              <a:endParaRPr/>
            </a:p>
          </p:txBody>
        </p:sp>
      </p:grpSp>
      <p:sp>
        <p:nvSpPr>
          <p:cNvPr id="57" name="TextBox 57"/>
          <p:cNvSpPr txBox="1"/>
          <p:nvPr/>
        </p:nvSpPr>
        <p:spPr>
          <a:xfrm>
            <a:off x="6128678" y="7137693"/>
            <a:ext cx="330513" cy="139277"/>
          </a:xfrm>
          <a:prstGeom prst="rect">
            <a:avLst/>
          </a:prstGeom>
        </p:spPr>
        <p:txBody>
          <a:bodyPr lIns="0" tIns="0" rIns="0" bIns="0" rtlCol="0" anchor="t">
            <a:spAutoFit/>
          </a:bodyPr>
          <a:lstStyle/>
          <a:p>
            <a:pPr algn="r">
              <a:lnSpc>
                <a:spcPts val="1080"/>
              </a:lnSpc>
            </a:pPr>
            <a:r>
              <a:rPr lang="en-US" sz="800" b="1">
                <a:solidFill>
                  <a:srgbClr val="080720"/>
                </a:solidFill>
                <a:latin typeface="JetBrains Mono Medium" panose="02010609020102050004"/>
                <a:ea typeface="JetBrains Mono Medium" panose="02010609020102050004"/>
                <a:cs typeface="JetBrains Mono Medium" panose="02010609020102050004"/>
                <a:sym typeface="JetBrains Mono Medium" panose="02010609020102050004"/>
              </a:rPr>
              <a:t>HIGH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0720"/>
        </a:solidFill>
        <a:effectLst/>
      </p:bgPr>
    </p:bg>
    <p:spTree>
      <p:nvGrpSpPr>
        <p:cNvPr id="1" name=""/>
        <p:cNvGrpSpPr/>
        <p:nvPr/>
      </p:nvGrpSpPr>
      <p:grpSpPr>
        <a:xfrm>
          <a:off x="0" y="0"/>
          <a:ext cx="0" cy="0"/>
          <a:chOff x="0" y="0"/>
          <a:chExt cx="0" cy="0"/>
        </a:xfrm>
      </p:grpSpPr>
      <p:sp>
        <p:nvSpPr>
          <p:cNvPr id="2" name="AutoShape 2"/>
          <p:cNvSpPr/>
          <p:nvPr/>
        </p:nvSpPr>
        <p:spPr>
          <a:xfrm>
            <a:off x="535898" y="9961275"/>
            <a:ext cx="6488205" cy="0"/>
          </a:xfrm>
          <a:prstGeom prst="line">
            <a:avLst/>
          </a:prstGeom>
          <a:ln w="19050" cap="flat">
            <a:solidFill>
              <a:srgbClr val="D52828">
                <a:alpha val="74902"/>
              </a:srgbClr>
            </a:solidFill>
            <a:prstDash val="solid"/>
            <a:headEnd type="none" w="sm" len="sm"/>
            <a:tailEnd type="none" w="sm" len="sm"/>
          </a:ln>
        </p:spPr>
      </p:sp>
      <p:sp>
        <p:nvSpPr>
          <p:cNvPr id="3" name="Freeform 3"/>
          <p:cNvSpPr/>
          <p:nvPr/>
        </p:nvSpPr>
        <p:spPr>
          <a:xfrm>
            <a:off x="535898" y="1421925"/>
            <a:ext cx="400500" cy="400500"/>
          </a:xfrm>
          <a:custGeom>
            <a:avLst/>
            <a:gdLst/>
            <a:ahLst/>
            <a:cxnLst/>
            <a:rect l="l" t="t" r="r" b="b"/>
            <a:pathLst>
              <a:path w="400500" h="400500">
                <a:moveTo>
                  <a:pt x="0" y="0"/>
                </a:moveTo>
                <a:lnTo>
                  <a:pt x="400500" y="0"/>
                </a:lnTo>
                <a:lnTo>
                  <a:pt x="400500" y="400500"/>
                </a:lnTo>
                <a:lnTo>
                  <a:pt x="0" y="400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91530" y="1518344"/>
            <a:ext cx="8775017" cy="8369173"/>
          </a:xfrm>
          <a:custGeom>
            <a:avLst/>
            <a:gdLst/>
            <a:ahLst/>
            <a:cxnLst/>
            <a:rect l="l" t="t" r="r" b="b"/>
            <a:pathLst>
              <a:path w="8775017" h="8369173">
                <a:moveTo>
                  <a:pt x="0" y="0"/>
                </a:moveTo>
                <a:lnTo>
                  <a:pt x="8775018" y="0"/>
                </a:lnTo>
                <a:lnTo>
                  <a:pt x="8775018" y="8369172"/>
                </a:lnTo>
                <a:lnTo>
                  <a:pt x="0" y="83691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98000" y="1383825"/>
            <a:ext cx="4941447" cy="695325"/>
          </a:xfrm>
          <a:prstGeom prst="rect">
            <a:avLst/>
          </a:prstGeom>
        </p:spPr>
        <p:txBody>
          <a:bodyPr lIns="0" tIns="0" rIns="0" bIns="0" rtlCol="0" anchor="t">
            <a:spAutoFit/>
          </a:bodyPr>
          <a:lstStyle/>
          <a:p>
            <a:pPr algn="l">
              <a:lnSpc>
                <a:spcPts val="5130"/>
              </a:lnSpc>
            </a:pPr>
            <a:r>
              <a:rPr lang="en-US" sz="5400" spc="-216" dirty="0">
                <a:solidFill>
                  <a:srgbClr val="DBDBDD"/>
                </a:solidFill>
                <a:latin typeface="TT Interphases" panose="02000503020000020004"/>
                <a:ea typeface="TT Interphases" panose="02000503020000020004"/>
                <a:cs typeface="TT Interphases" panose="02000503020000020004"/>
                <a:sym typeface="TT Interphases" panose="02000503020000020004"/>
              </a:rPr>
              <a:t>Thank you!</a:t>
            </a:r>
          </a:p>
        </p:txBody>
      </p:sp>
      <p:sp>
        <p:nvSpPr>
          <p:cNvPr id="6" name="TextBox 6"/>
          <p:cNvSpPr txBox="1"/>
          <p:nvPr/>
        </p:nvSpPr>
        <p:spPr>
          <a:xfrm>
            <a:off x="5372602" y="10132950"/>
            <a:ext cx="1651500" cy="139336"/>
          </a:xfrm>
          <a:prstGeom prst="rect">
            <a:avLst/>
          </a:prstGeom>
        </p:spPr>
        <p:txBody>
          <a:bodyPr lIns="0" tIns="0" rIns="0" bIns="0" rtlCol="0" anchor="t">
            <a:spAutoFit/>
          </a:bodyPr>
          <a:lstStyle/>
          <a:p>
            <a:pPr algn="r">
              <a:lnSpc>
                <a:spcPts val="1080"/>
              </a:lnSpc>
            </a:pPr>
            <a:r>
              <a:rPr lang="en-US" sz="800" b="1">
                <a:solidFill>
                  <a:srgbClr val="DBDBDD"/>
                </a:solidFill>
                <a:latin typeface="JetBrains Mono Medium" panose="02010609020102050004"/>
                <a:ea typeface="JetBrains Mono Medium" panose="02010609020102050004"/>
                <a:cs typeface="JetBrains Mono Medium" panose="02010609020102050004"/>
                <a:sym typeface="JetBrains Mono Medium" panose="02010609020102050004"/>
              </a:rPr>
              <a:t>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0720"/>
        </a:solidFill>
        <a:effectLst/>
      </p:bgPr>
    </p:bg>
    <p:spTree>
      <p:nvGrpSpPr>
        <p:cNvPr id="1" name="">
          <a:extLst>
            <a:ext uri="{FF2B5EF4-FFF2-40B4-BE49-F238E27FC236}">
              <a16:creationId xmlns:a16="http://schemas.microsoft.com/office/drawing/2014/main" id="{6EF670E2-921C-B7DD-49F6-0B201D5049DC}"/>
            </a:ext>
          </a:extLst>
        </p:cNvPr>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EAF35AB9-7638-281A-169D-3027FF904515}"/>
              </a:ext>
            </a:extLst>
          </p:cNvPr>
          <p:cNvSpPr>
            <a:spLocks noGrp="1" noRot="1" noMove="1" noResize="1" noEditPoints="1" noAdjustHandles="1" noChangeArrowheads="1" noChangeShapeType="1"/>
          </p:cNvSpPr>
          <p:nvPr/>
        </p:nvSpPr>
        <p:spPr>
          <a:xfrm>
            <a:off x="3360254" y="3579045"/>
            <a:ext cx="3793778" cy="2120449"/>
          </a:xfrm>
          <a:prstGeom prst="round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utoShape 2">
            <a:extLst>
              <a:ext uri="{FF2B5EF4-FFF2-40B4-BE49-F238E27FC236}">
                <a16:creationId xmlns:a16="http://schemas.microsoft.com/office/drawing/2014/main" id="{ABC1CFBE-7C13-A176-7B39-0A756170CEA4}"/>
              </a:ext>
            </a:extLst>
          </p:cNvPr>
          <p:cNvSpPr/>
          <p:nvPr/>
        </p:nvSpPr>
        <p:spPr>
          <a:xfrm>
            <a:off x="535898" y="9961275"/>
            <a:ext cx="6488205" cy="0"/>
          </a:xfrm>
          <a:prstGeom prst="line">
            <a:avLst/>
          </a:prstGeom>
          <a:ln w="19050" cap="flat">
            <a:solidFill>
              <a:srgbClr val="D52828">
                <a:alpha val="74902"/>
              </a:srgbClr>
            </a:solidFill>
            <a:prstDash val="solid"/>
            <a:headEnd type="none" w="sm" len="sm"/>
            <a:tailEnd type="none" w="sm" len="sm"/>
          </a:ln>
        </p:spPr>
      </p:sp>
      <p:sp>
        <p:nvSpPr>
          <p:cNvPr id="6" name="TextBox 6">
            <a:extLst>
              <a:ext uri="{FF2B5EF4-FFF2-40B4-BE49-F238E27FC236}">
                <a16:creationId xmlns:a16="http://schemas.microsoft.com/office/drawing/2014/main" id="{7F393112-7595-DBA9-704A-70A1CD0E1684}"/>
              </a:ext>
            </a:extLst>
          </p:cNvPr>
          <p:cNvSpPr txBox="1"/>
          <p:nvPr/>
        </p:nvSpPr>
        <p:spPr>
          <a:xfrm>
            <a:off x="5372602" y="10132950"/>
            <a:ext cx="1651500" cy="130036"/>
          </a:xfrm>
          <a:prstGeom prst="rect">
            <a:avLst/>
          </a:prstGeom>
        </p:spPr>
        <p:txBody>
          <a:bodyPr lIns="0" tIns="0" rIns="0" bIns="0" rtlCol="0" anchor="t">
            <a:spAutoFit/>
          </a:bodyPr>
          <a:lstStyle/>
          <a:p>
            <a:pPr algn="r">
              <a:lnSpc>
                <a:spcPts val="1080"/>
              </a:lnSpc>
            </a:pPr>
            <a:r>
              <a:rPr lang="en-US" sz="800" b="1" dirty="0">
                <a:solidFill>
                  <a:srgbClr val="DBDBDD"/>
                </a:solidFill>
                <a:latin typeface="JetBrains Mono Medium" panose="02010609020102050004"/>
                <a:ea typeface="JetBrains Mono Medium" panose="02010609020102050004"/>
                <a:cs typeface="JetBrains Mono Medium" panose="02010609020102050004"/>
                <a:sym typeface="JetBrains Mono Medium" panose="02010609020102050004"/>
              </a:rPr>
              <a:t>12</a:t>
            </a:r>
          </a:p>
        </p:txBody>
      </p:sp>
      <p:sp>
        <p:nvSpPr>
          <p:cNvPr id="7" name="TextBox 5">
            <a:extLst>
              <a:ext uri="{FF2B5EF4-FFF2-40B4-BE49-F238E27FC236}">
                <a16:creationId xmlns:a16="http://schemas.microsoft.com/office/drawing/2014/main" id="{62592BC5-507B-0D92-FE05-030C3A0E6734}"/>
              </a:ext>
            </a:extLst>
          </p:cNvPr>
          <p:cNvSpPr txBox="1"/>
          <p:nvPr/>
        </p:nvSpPr>
        <p:spPr>
          <a:xfrm>
            <a:off x="942748" y="707868"/>
            <a:ext cx="4941447" cy="1310743"/>
          </a:xfrm>
          <a:prstGeom prst="rect">
            <a:avLst/>
          </a:prstGeom>
        </p:spPr>
        <p:txBody>
          <a:bodyPr lIns="0" tIns="0" rIns="0" bIns="0" rtlCol="0" anchor="t">
            <a:spAutoFit/>
          </a:bodyPr>
          <a:lstStyle/>
          <a:p>
            <a:pPr algn="l">
              <a:lnSpc>
                <a:spcPts val="5130"/>
              </a:lnSpc>
            </a:pPr>
            <a:r>
              <a:rPr lang="en-US" sz="5400" spc="-216" dirty="0">
                <a:solidFill>
                  <a:srgbClr val="DBDBDD"/>
                </a:solidFill>
                <a:latin typeface="TT Interphases" panose="02000503020000020004"/>
                <a:ea typeface="TT Interphases" panose="02000503020000020004"/>
                <a:cs typeface="TT Interphases" panose="02000503020000020004"/>
                <a:sym typeface="TT Interphases" panose="02000503020000020004"/>
              </a:rPr>
              <a:t>Resources and code </a:t>
            </a:r>
          </a:p>
        </p:txBody>
      </p:sp>
      <p:sp>
        <p:nvSpPr>
          <p:cNvPr id="8" name="Freeform 3">
            <a:extLst>
              <a:ext uri="{FF2B5EF4-FFF2-40B4-BE49-F238E27FC236}">
                <a16:creationId xmlns:a16="http://schemas.microsoft.com/office/drawing/2014/main" id="{91E06281-1A0E-DAB0-56F2-DD416529C14A}"/>
              </a:ext>
            </a:extLst>
          </p:cNvPr>
          <p:cNvSpPr/>
          <p:nvPr/>
        </p:nvSpPr>
        <p:spPr>
          <a:xfrm>
            <a:off x="335648" y="774318"/>
            <a:ext cx="400500" cy="400500"/>
          </a:xfrm>
          <a:custGeom>
            <a:avLst/>
            <a:gdLst/>
            <a:ahLst/>
            <a:cxnLst/>
            <a:rect l="l" t="t" r="r" b="b"/>
            <a:pathLst>
              <a:path w="400500" h="400500">
                <a:moveTo>
                  <a:pt x="0" y="0"/>
                </a:moveTo>
                <a:lnTo>
                  <a:pt x="400500" y="0"/>
                </a:lnTo>
                <a:lnTo>
                  <a:pt x="400500" y="400500"/>
                </a:lnTo>
                <a:lnTo>
                  <a:pt x="0" y="400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0">
            <a:hlinkClick r:id="rId4"/>
            <a:extLst>
              <a:ext uri="{FF2B5EF4-FFF2-40B4-BE49-F238E27FC236}">
                <a16:creationId xmlns:a16="http://schemas.microsoft.com/office/drawing/2014/main" id="{B37974F1-EADD-C054-B927-309A484462A5}"/>
              </a:ext>
            </a:extLst>
          </p:cNvPr>
          <p:cNvSpPr txBox="1"/>
          <p:nvPr/>
        </p:nvSpPr>
        <p:spPr>
          <a:xfrm>
            <a:off x="2042972" y="2550213"/>
            <a:ext cx="5164277" cy="646331"/>
          </a:xfrm>
          <a:prstGeom prst="rect">
            <a:avLst/>
          </a:prstGeom>
          <a:noFill/>
        </p:spPr>
        <p:txBody>
          <a:bodyPr wrap="square">
            <a:spAutoFit/>
          </a:bodyPr>
          <a:lstStyle/>
          <a:p>
            <a:r>
              <a:rPr lang="en-US" b="1" u="sng" dirty="0">
                <a:solidFill>
                  <a:schemeClr val="bg1"/>
                </a:solidFill>
              </a:rPr>
              <a:t>https://www.kaggle.com/code/takkimsncn/lung-cancer-prediction</a:t>
            </a:r>
          </a:p>
        </p:txBody>
      </p:sp>
      <p:sp>
        <p:nvSpPr>
          <p:cNvPr id="12" name="TextBox 5">
            <a:extLst>
              <a:ext uri="{FF2B5EF4-FFF2-40B4-BE49-F238E27FC236}">
                <a16:creationId xmlns:a16="http://schemas.microsoft.com/office/drawing/2014/main" id="{945B133C-8BD1-A542-AB79-7089F807FFDB}"/>
              </a:ext>
            </a:extLst>
          </p:cNvPr>
          <p:cNvSpPr txBox="1"/>
          <p:nvPr/>
        </p:nvSpPr>
        <p:spPr>
          <a:xfrm>
            <a:off x="349250" y="2397368"/>
            <a:ext cx="1779386" cy="613630"/>
          </a:xfrm>
          <a:prstGeom prst="rect">
            <a:avLst/>
          </a:prstGeom>
        </p:spPr>
        <p:txBody>
          <a:bodyPr wrap="square" lIns="0" tIns="0" rIns="0" bIns="0" rtlCol="0" anchor="t">
            <a:spAutoFit/>
          </a:bodyPr>
          <a:lstStyle/>
          <a:p>
            <a:pPr algn="l">
              <a:lnSpc>
                <a:spcPts val="5130"/>
              </a:lnSpc>
            </a:pPr>
            <a:r>
              <a:rPr lang="en-US" sz="3600" spc="-216" dirty="0">
                <a:solidFill>
                  <a:srgbClr val="DBDBDD"/>
                </a:solidFill>
                <a:latin typeface="TT Interphases" panose="02000503020000020004"/>
                <a:ea typeface="TT Interphases" panose="02000503020000020004"/>
                <a:cs typeface="TT Interphases" panose="02000503020000020004"/>
                <a:sym typeface="TT Interphases" panose="02000503020000020004"/>
              </a:rPr>
              <a:t>Dataset: </a:t>
            </a:r>
          </a:p>
        </p:txBody>
      </p:sp>
      <p:sp>
        <p:nvSpPr>
          <p:cNvPr id="13" name="TextBox 5">
            <a:extLst>
              <a:ext uri="{FF2B5EF4-FFF2-40B4-BE49-F238E27FC236}">
                <a16:creationId xmlns:a16="http://schemas.microsoft.com/office/drawing/2014/main" id="{6CE6C856-5DD8-EEB7-7241-74B22685B6C7}"/>
              </a:ext>
            </a:extLst>
          </p:cNvPr>
          <p:cNvSpPr txBox="1"/>
          <p:nvPr/>
        </p:nvSpPr>
        <p:spPr>
          <a:xfrm>
            <a:off x="362048" y="3926733"/>
            <a:ext cx="1779386" cy="613630"/>
          </a:xfrm>
          <a:prstGeom prst="rect">
            <a:avLst/>
          </a:prstGeom>
        </p:spPr>
        <p:txBody>
          <a:bodyPr wrap="square" lIns="0" tIns="0" rIns="0" bIns="0" rtlCol="0" anchor="t">
            <a:spAutoFit/>
          </a:bodyPr>
          <a:lstStyle/>
          <a:p>
            <a:pPr algn="l">
              <a:lnSpc>
                <a:spcPts val="5130"/>
              </a:lnSpc>
            </a:pPr>
            <a:r>
              <a:rPr lang="en-US" sz="3600" spc="-216" dirty="0">
                <a:solidFill>
                  <a:srgbClr val="DBDBDD"/>
                </a:solidFill>
                <a:latin typeface="TT Interphases" panose="02000503020000020004"/>
                <a:ea typeface="TT Interphases" panose="02000503020000020004"/>
                <a:cs typeface="TT Interphases" panose="02000503020000020004"/>
                <a:sym typeface="TT Interphases" panose="02000503020000020004"/>
              </a:rPr>
              <a:t>R-file:</a:t>
            </a:r>
          </a:p>
        </p:txBody>
      </p:sp>
      <p:graphicFrame>
        <p:nvGraphicFramePr>
          <p:cNvPr id="15" name="Object 14">
            <a:extLst>
              <a:ext uri="{FF2B5EF4-FFF2-40B4-BE49-F238E27FC236}">
                <a16:creationId xmlns:a16="http://schemas.microsoft.com/office/drawing/2014/main" id="{6B363E42-B3A1-E8E5-3520-2347226DFDD0}"/>
              </a:ext>
            </a:extLst>
          </p:cNvPr>
          <p:cNvGraphicFramePr>
            <a:graphicFrameLocks noChangeAspect="1"/>
          </p:cNvGraphicFramePr>
          <p:nvPr>
            <p:extLst>
              <p:ext uri="{D42A27DB-BD31-4B8C-83A1-F6EECF244321}">
                <p14:modId xmlns:p14="http://schemas.microsoft.com/office/powerpoint/2010/main" val="2417938201"/>
              </p:ext>
            </p:extLst>
          </p:nvPr>
        </p:nvGraphicFramePr>
        <p:xfrm>
          <a:off x="3549650" y="3713883"/>
          <a:ext cx="3474452" cy="1880449"/>
        </p:xfrm>
        <a:graphic>
          <a:graphicData uri="http://schemas.openxmlformats.org/presentationml/2006/ole">
            <mc:AlternateContent xmlns:mc="http://schemas.openxmlformats.org/markup-compatibility/2006">
              <mc:Choice xmlns:v="urn:schemas-microsoft-com:vml" Requires="v">
                <p:oleObj name="Packager Shell Object" showAsIcon="1" r:id="rId5" imgW="867052" imgH="514350" progId="Package">
                  <p:embed/>
                </p:oleObj>
              </mc:Choice>
              <mc:Fallback>
                <p:oleObj name="Packager Shell Object" showAsIcon="1" r:id="rId5" imgW="867052" imgH="514350" progId="Package">
                  <p:embed/>
                  <p:pic>
                    <p:nvPicPr>
                      <p:cNvPr id="0" name=""/>
                      <p:cNvPicPr/>
                      <p:nvPr/>
                    </p:nvPicPr>
                    <p:blipFill>
                      <a:blip r:embed="rId6"/>
                      <a:stretch>
                        <a:fillRect/>
                      </a:stretch>
                    </p:blipFill>
                    <p:spPr>
                      <a:xfrm>
                        <a:off x="3549650" y="3713883"/>
                        <a:ext cx="3474452" cy="1880449"/>
                      </a:xfrm>
                      <a:prstGeom prst="rect">
                        <a:avLst/>
                      </a:prstGeom>
                      <a:solidFill>
                        <a:schemeClr val="bg1"/>
                      </a:solidFill>
                    </p:spPr>
                  </p:pic>
                </p:oleObj>
              </mc:Fallback>
            </mc:AlternateContent>
          </a:graphicData>
        </a:graphic>
      </p:graphicFrame>
      <p:sp>
        <p:nvSpPr>
          <p:cNvPr id="39" name="Speech Bubble: Rectangle with Corners Rounded 38">
            <a:extLst>
              <a:ext uri="{FF2B5EF4-FFF2-40B4-BE49-F238E27FC236}">
                <a16:creationId xmlns:a16="http://schemas.microsoft.com/office/drawing/2014/main" id="{8A494F6C-FA08-D77F-3757-65A5DAF8676E}"/>
              </a:ext>
            </a:extLst>
          </p:cNvPr>
          <p:cNvSpPr/>
          <p:nvPr/>
        </p:nvSpPr>
        <p:spPr>
          <a:xfrm>
            <a:off x="736148" y="5934947"/>
            <a:ext cx="3575501" cy="1747456"/>
          </a:xfrm>
          <a:prstGeom prst="wedgeRoundRectCallout">
            <a:avLst>
              <a:gd name="adj1" fmla="val 25609"/>
              <a:gd name="adj2" fmla="val -61018"/>
              <a:gd name="adj3" fmla="val 16667"/>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5">
            <a:extLst>
              <a:ext uri="{FF2B5EF4-FFF2-40B4-BE49-F238E27FC236}">
                <a16:creationId xmlns:a16="http://schemas.microsoft.com/office/drawing/2014/main" id="{876CACC1-6F4B-8838-C83B-F1EB784D9ECF}"/>
              </a:ext>
            </a:extLst>
          </p:cNvPr>
          <p:cNvSpPr txBox="1"/>
          <p:nvPr/>
        </p:nvSpPr>
        <p:spPr>
          <a:xfrm>
            <a:off x="1256333" y="6055073"/>
            <a:ext cx="2624106" cy="1217706"/>
          </a:xfrm>
          <a:prstGeom prst="rect">
            <a:avLst/>
          </a:prstGeom>
        </p:spPr>
        <p:txBody>
          <a:bodyPr wrap="square" lIns="0" tIns="0" rIns="0" bIns="0" rtlCol="0" anchor="t">
            <a:spAutoFit/>
          </a:bodyPr>
          <a:lstStyle/>
          <a:p>
            <a:pPr algn="l">
              <a:lnSpc>
                <a:spcPts val="5130"/>
              </a:lnSpc>
            </a:pPr>
            <a:r>
              <a:rPr lang="en-US" sz="2400" b="1" dirty="0">
                <a:solidFill>
                  <a:srgbClr val="DBDBDD"/>
                </a:solidFill>
                <a:latin typeface="TT Interphases" panose="02000503020000020004"/>
                <a:ea typeface="TT Interphases" panose="02000503020000020004"/>
                <a:cs typeface="TT Interphases" panose="02000503020000020004"/>
                <a:sym typeface="TT Interphases" panose="02000503020000020004"/>
              </a:rPr>
              <a:t>Double click on </a:t>
            </a:r>
            <a:r>
              <a:rPr lang="en-US" sz="2400" dirty="0">
                <a:solidFill>
                  <a:srgbClr val="DBDBDD"/>
                </a:solidFill>
                <a:latin typeface="TT Interphases" panose="02000503020000020004"/>
                <a:ea typeface="TT Interphases" panose="02000503020000020004"/>
                <a:cs typeface="TT Interphases" panose="02000503020000020004"/>
                <a:sym typeface="TT Interphases" panose="02000503020000020004"/>
              </a:rPr>
              <a:t>the file to open it  </a:t>
            </a:r>
            <a:r>
              <a:rPr lang="en-US" sz="2400" dirty="0">
                <a:solidFill>
                  <a:srgbClr val="DBDBDD"/>
                </a:solidFill>
                <a:latin typeface="TT Interphases" panose="02000503020000020004"/>
                <a:ea typeface="TT Interphases" panose="02000503020000020004"/>
                <a:cs typeface="TT Interphases" panose="02000503020000020004"/>
                <a:sym typeface="Wingdings" panose="05000000000000000000" pitchFamily="2" charset="2"/>
              </a:rPr>
              <a:t></a:t>
            </a:r>
            <a:endParaRPr lang="en-US" sz="2400" dirty="0">
              <a:solidFill>
                <a:srgbClr val="DBDBDD"/>
              </a:solidFill>
              <a:latin typeface="TT Interphases" panose="02000503020000020004"/>
              <a:ea typeface="TT Interphases" panose="02000503020000020004"/>
              <a:cs typeface="TT Interphases" panose="02000503020000020004"/>
              <a:sym typeface="TT Interphases" panose="02000503020000020004"/>
            </a:endParaRPr>
          </a:p>
        </p:txBody>
      </p:sp>
    </p:spTree>
    <p:extLst>
      <p:ext uri="{BB962C8B-B14F-4D97-AF65-F5344CB8AC3E}">
        <p14:creationId xmlns:p14="http://schemas.microsoft.com/office/powerpoint/2010/main" val="1692890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80720"/>
        </a:solidFill>
        <a:effectLst/>
      </p:bgPr>
    </p:bg>
    <p:spTree>
      <p:nvGrpSpPr>
        <p:cNvPr id="1" name="">
          <a:extLst>
            <a:ext uri="{FF2B5EF4-FFF2-40B4-BE49-F238E27FC236}">
              <a16:creationId xmlns:a16="http://schemas.microsoft.com/office/drawing/2014/main" id="{98DF8838-A496-C482-B354-37279BD25BB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3500236-9E34-357B-968E-213AB6535261}"/>
              </a:ext>
            </a:extLst>
          </p:cNvPr>
          <p:cNvSpPr/>
          <p:nvPr/>
        </p:nvSpPr>
        <p:spPr>
          <a:xfrm>
            <a:off x="535898" y="9961275"/>
            <a:ext cx="6488205" cy="0"/>
          </a:xfrm>
          <a:prstGeom prst="line">
            <a:avLst/>
          </a:prstGeom>
          <a:ln w="19050" cap="flat">
            <a:solidFill>
              <a:srgbClr val="D52828">
                <a:alpha val="74902"/>
              </a:srgbClr>
            </a:solidFill>
            <a:prstDash val="solid"/>
            <a:headEnd type="none" w="sm" len="sm"/>
            <a:tailEnd type="none" w="sm" len="sm"/>
          </a:ln>
        </p:spPr>
      </p:sp>
      <p:pic>
        <p:nvPicPr>
          <p:cNvPr id="18" name="Picture 17" descr="A screenshot of a computer&#10;&#10;AI-generated content may be incorrect.">
            <a:extLst>
              <a:ext uri="{FF2B5EF4-FFF2-40B4-BE49-F238E27FC236}">
                <a16:creationId xmlns:a16="http://schemas.microsoft.com/office/drawing/2014/main" id="{0F2F20A2-D66B-F084-D8B5-FCBA22199D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695" y="272568"/>
            <a:ext cx="5506791" cy="4495801"/>
          </a:xfrm>
          <a:prstGeom prst="rect">
            <a:avLst/>
          </a:prstGeom>
        </p:spPr>
      </p:pic>
      <p:pic>
        <p:nvPicPr>
          <p:cNvPr id="20" name="Picture 19" descr="A screenshot of a computer code&#10;&#10;AI-generated content may be incorrect.">
            <a:extLst>
              <a:ext uri="{FF2B5EF4-FFF2-40B4-BE49-F238E27FC236}">
                <a16:creationId xmlns:a16="http://schemas.microsoft.com/office/drawing/2014/main" id="{0F85A80B-CC36-85AB-0844-0D3635CE34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068" y="5170657"/>
            <a:ext cx="5584043" cy="4388329"/>
          </a:xfrm>
          <a:prstGeom prst="rect">
            <a:avLst/>
          </a:prstGeom>
        </p:spPr>
      </p:pic>
    </p:spTree>
    <p:extLst>
      <p:ext uri="{BB962C8B-B14F-4D97-AF65-F5344CB8AC3E}">
        <p14:creationId xmlns:p14="http://schemas.microsoft.com/office/powerpoint/2010/main" val="2878393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80720"/>
        </a:solidFill>
        <a:effectLst/>
      </p:bgPr>
    </p:bg>
    <p:spTree>
      <p:nvGrpSpPr>
        <p:cNvPr id="1" name="">
          <a:extLst>
            <a:ext uri="{FF2B5EF4-FFF2-40B4-BE49-F238E27FC236}">
              <a16:creationId xmlns:a16="http://schemas.microsoft.com/office/drawing/2014/main" id="{4AFED163-F251-524A-3AD7-0B7E6A30EEE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01A3F03-EAB2-EB72-2E4E-2CB0BA50D5D6}"/>
              </a:ext>
            </a:extLst>
          </p:cNvPr>
          <p:cNvSpPr/>
          <p:nvPr/>
        </p:nvSpPr>
        <p:spPr>
          <a:xfrm>
            <a:off x="535898" y="9961275"/>
            <a:ext cx="6488205" cy="0"/>
          </a:xfrm>
          <a:prstGeom prst="line">
            <a:avLst/>
          </a:prstGeom>
          <a:ln w="19050" cap="flat">
            <a:solidFill>
              <a:srgbClr val="D52828">
                <a:alpha val="74902"/>
              </a:srgbClr>
            </a:solidFill>
            <a:prstDash val="solid"/>
            <a:headEnd type="none" w="sm" len="sm"/>
            <a:tailEnd type="none" w="sm" len="sm"/>
          </a:ln>
        </p:spPr>
      </p:sp>
      <p:pic>
        <p:nvPicPr>
          <p:cNvPr id="5" name="Picture 4" descr="A screenshot of a computer program&#10;&#10;AI-generated content may be incorrect.">
            <a:extLst>
              <a:ext uri="{FF2B5EF4-FFF2-40B4-BE49-F238E27FC236}">
                <a16:creationId xmlns:a16="http://schemas.microsoft.com/office/drawing/2014/main" id="{6290D532-3B9A-ABBF-E31F-3958A62DF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332" y="5148035"/>
            <a:ext cx="5325836" cy="4455158"/>
          </a:xfrm>
          <a:prstGeom prst="rect">
            <a:avLst/>
          </a:prstGeom>
        </p:spPr>
      </p:pic>
      <p:pic>
        <p:nvPicPr>
          <p:cNvPr id="7" name="Picture 6" descr="A screenshot of a computer code&#10;&#10;AI-generated content may be incorrect.">
            <a:extLst>
              <a:ext uri="{FF2B5EF4-FFF2-40B4-BE49-F238E27FC236}">
                <a16:creationId xmlns:a16="http://schemas.microsoft.com/office/drawing/2014/main" id="{0C7EA98C-17DF-5158-1EE9-08270EAF9D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332" y="153828"/>
            <a:ext cx="5325836" cy="4652454"/>
          </a:xfrm>
          <a:prstGeom prst="rect">
            <a:avLst/>
          </a:prstGeom>
        </p:spPr>
      </p:pic>
    </p:spTree>
    <p:extLst>
      <p:ext uri="{BB962C8B-B14F-4D97-AF65-F5344CB8AC3E}">
        <p14:creationId xmlns:p14="http://schemas.microsoft.com/office/powerpoint/2010/main" val="1948154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80720"/>
        </a:solidFill>
        <a:effectLst/>
      </p:bgPr>
    </p:bg>
    <p:spTree>
      <p:nvGrpSpPr>
        <p:cNvPr id="1" name="">
          <a:extLst>
            <a:ext uri="{FF2B5EF4-FFF2-40B4-BE49-F238E27FC236}">
              <a16:creationId xmlns:a16="http://schemas.microsoft.com/office/drawing/2014/main" id="{C35BADD9-DEA7-32C8-75DD-0909DA92847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CA0CAC2-1426-9BEC-2D0C-CDA0EBD79F0D}"/>
              </a:ext>
            </a:extLst>
          </p:cNvPr>
          <p:cNvSpPr/>
          <p:nvPr/>
        </p:nvSpPr>
        <p:spPr>
          <a:xfrm>
            <a:off x="535898" y="9961275"/>
            <a:ext cx="6488205" cy="0"/>
          </a:xfrm>
          <a:prstGeom prst="line">
            <a:avLst/>
          </a:prstGeom>
          <a:ln w="19050" cap="flat">
            <a:solidFill>
              <a:srgbClr val="D52828">
                <a:alpha val="74902"/>
              </a:srgbClr>
            </a:solidFill>
            <a:prstDash val="solid"/>
            <a:headEnd type="none" w="sm" len="sm"/>
            <a:tailEnd type="none" w="sm" len="sm"/>
          </a:ln>
        </p:spPr>
      </p:sp>
      <p:pic>
        <p:nvPicPr>
          <p:cNvPr id="4" name="Picture 3" descr="A screenshot of a computer program&#10;&#10;AI-generated content may be incorrect.">
            <a:extLst>
              <a:ext uri="{FF2B5EF4-FFF2-40B4-BE49-F238E27FC236}">
                <a16:creationId xmlns:a16="http://schemas.microsoft.com/office/drawing/2014/main" id="{6ACA73A2-1E69-19B6-95C6-7EE61838A0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450" y="5531344"/>
            <a:ext cx="4799189" cy="4084973"/>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04F01FF6-1726-1EFD-6540-63F4C1F057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450" y="243352"/>
            <a:ext cx="4799189" cy="4943035"/>
          </a:xfrm>
          <a:prstGeom prst="rect">
            <a:avLst/>
          </a:prstGeom>
        </p:spPr>
      </p:pic>
    </p:spTree>
    <p:extLst>
      <p:ext uri="{BB962C8B-B14F-4D97-AF65-F5344CB8AC3E}">
        <p14:creationId xmlns:p14="http://schemas.microsoft.com/office/powerpoint/2010/main" val="3061602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80720"/>
        </a:solidFill>
        <a:effectLst/>
      </p:bgPr>
    </p:bg>
    <p:spTree>
      <p:nvGrpSpPr>
        <p:cNvPr id="1" name="">
          <a:extLst>
            <a:ext uri="{FF2B5EF4-FFF2-40B4-BE49-F238E27FC236}">
              <a16:creationId xmlns:a16="http://schemas.microsoft.com/office/drawing/2014/main" id="{1127FEDB-1271-B0E9-53E4-9BF8A67DDA8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591B0E8-4FDC-2427-FCD2-B6C98A345E7B}"/>
              </a:ext>
            </a:extLst>
          </p:cNvPr>
          <p:cNvSpPr/>
          <p:nvPr/>
        </p:nvSpPr>
        <p:spPr>
          <a:xfrm>
            <a:off x="535898" y="9961275"/>
            <a:ext cx="6488205" cy="0"/>
          </a:xfrm>
          <a:prstGeom prst="line">
            <a:avLst/>
          </a:prstGeom>
          <a:ln w="19050" cap="flat">
            <a:solidFill>
              <a:srgbClr val="D52828">
                <a:alpha val="74902"/>
              </a:srgbClr>
            </a:solidFill>
            <a:prstDash val="solid"/>
            <a:headEnd type="none" w="sm" len="sm"/>
            <a:tailEnd type="none" w="sm" len="sm"/>
          </a:ln>
        </p:spPr>
      </p:sp>
      <p:pic>
        <p:nvPicPr>
          <p:cNvPr id="4" name="Picture 3" descr="A close up of a computer screen&#10;&#10;AI-generated content may be incorrect.">
            <a:extLst>
              <a:ext uri="{FF2B5EF4-FFF2-40B4-BE49-F238E27FC236}">
                <a16:creationId xmlns:a16="http://schemas.microsoft.com/office/drawing/2014/main" id="{94DA6C27-3F03-F80E-2D54-F0EE1AB349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898" y="5041900"/>
            <a:ext cx="6363133" cy="4571997"/>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119E1CAF-BD91-8A13-D00E-F28D6EA50D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316" y="165100"/>
            <a:ext cx="6363133" cy="4453221"/>
          </a:xfrm>
          <a:prstGeom prst="rect">
            <a:avLst/>
          </a:prstGeom>
        </p:spPr>
      </p:pic>
    </p:spTree>
    <p:extLst>
      <p:ext uri="{BB962C8B-B14F-4D97-AF65-F5344CB8AC3E}">
        <p14:creationId xmlns:p14="http://schemas.microsoft.com/office/powerpoint/2010/main" val="1904314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80720"/>
        </a:solidFill>
        <a:effectLst/>
      </p:bgPr>
    </p:bg>
    <p:spTree>
      <p:nvGrpSpPr>
        <p:cNvPr id="1" name="">
          <a:extLst>
            <a:ext uri="{FF2B5EF4-FFF2-40B4-BE49-F238E27FC236}">
              <a16:creationId xmlns:a16="http://schemas.microsoft.com/office/drawing/2014/main" id="{C2B2D26A-C44A-BE8B-4BE7-495D7BDF2DA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E1DB75E-7D92-09F8-EE47-F2001F6277CC}"/>
              </a:ext>
            </a:extLst>
          </p:cNvPr>
          <p:cNvSpPr/>
          <p:nvPr/>
        </p:nvSpPr>
        <p:spPr>
          <a:xfrm>
            <a:off x="535898" y="9961275"/>
            <a:ext cx="6488205" cy="0"/>
          </a:xfrm>
          <a:prstGeom prst="line">
            <a:avLst/>
          </a:prstGeom>
          <a:ln w="19050" cap="flat">
            <a:solidFill>
              <a:srgbClr val="D52828">
                <a:alpha val="74902"/>
              </a:srgbClr>
            </a:solidFill>
            <a:prstDash val="solid"/>
            <a:headEnd type="none" w="sm" len="sm"/>
            <a:tailEnd type="none" w="sm" len="sm"/>
          </a:ln>
        </p:spPr>
      </p:sp>
      <p:pic>
        <p:nvPicPr>
          <p:cNvPr id="4" name="Picture 3" descr="A screenshot of a computer program&#10;&#10;AI-generated content may be incorrect.">
            <a:extLst>
              <a:ext uri="{FF2B5EF4-FFF2-40B4-BE49-F238E27FC236}">
                <a16:creationId xmlns:a16="http://schemas.microsoft.com/office/drawing/2014/main" id="{9EFC65B7-7363-1D1B-0BC0-7BDFEDE704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380" y="7601544"/>
            <a:ext cx="7106642" cy="1962424"/>
          </a:xfrm>
          <a:prstGeom prst="rect">
            <a:avLst/>
          </a:prstGeom>
        </p:spPr>
      </p:pic>
      <p:pic>
        <p:nvPicPr>
          <p:cNvPr id="6" name="Picture 5" descr="A computer screen shot of a code&#10;&#10;AI-generated content may be incorrect.">
            <a:extLst>
              <a:ext uri="{FF2B5EF4-FFF2-40B4-BE49-F238E27FC236}">
                <a16:creationId xmlns:a16="http://schemas.microsoft.com/office/drawing/2014/main" id="{061F1EDC-C466-B12A-67ED-1F0ACAA710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380" y="4819715"/>
            <a:ext cx="7106642" cy="2536480"/>
          </a:xfrm>
          <a:prstGeom prst="rect">
            <a:avLst/>
          </a:prstGeom>
        </p:spPr>
      </p:pic>
      <p:pic>
        <p:nvPicPr>
          <p:cNvPr id="8" name="Picture 7" descr="A computer screen shot of a program&#10;&#10;AI-generated content may be incorrect.">
            <a:extLst>
              <a:ext uri="{FF2B5EF4-FFF2-40B4-BE49-F238E27FC236}">
                <a16:creationId xmlns:a16="http://schemas.microsoft.com/office/drawing/2014/main" id="{8DA29B58-E586-94D6-515C-3940109D79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5380" y="1916152"/>
            <a:ext cx="7106642" cy="2753109"/>
          </a:xfrm>
          <a:prstGeom prst="rect">
            <a:avLst/>
          </a:prstGeom>
        </p:spPr>
      </p:pic>
      <p:pic>
        <p:nvPicPr>
          <p:cNvPr id="10" name="Picture 9" descr="A close-up of a computer code&#10;&#10;AI-generated content may be incorrect.">
            <a:extLst>
              <a:ext uri="{FF2B5EF4-FFF2-40B4-BE49-F238E27FC236}">
                <a16:creationId xmlns:a16="http://schemas.microsoft.com/office/drawing/2014/main" id="{CCFE710A-9875-D9C5-96D7-CF44B6EBDE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904" y="537936"/>
            <a:ext cx="7116118" cy="1075161"/>
          </a:xfrm>
          <a:prstGeom prst="rect">
            <a:avLst/>
          </a:prstGeom>
        </p:spPr>
      </p:pic>
    </p:spTree>
    <p:extLst>
      <p:ext uri="{BB962C8B-B14F-4D97-AF65-F5344CB8AC3E}">
        <p14:creationId xmlns:p14="http://schemas.microsoft.com/office/powerpoint/2010/main" val="1062501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766.1488188976377,&quot;left&quot;:42.84267716535433,&quot;top&quot;:14.54456692913386,&quot;width&quot;:510.23622047244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1545</Words>
  <Application>Microsoft Office PowerPoint</Application>
  <PresentationFormat>Custom</PresentationFormat>
  <Paragraphs>118</Paragraphs>
  <Slides>19</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8" baseType="lpstr">
      <vt:lpstr>JetBrains Mono Medium</vt:lpstr>
      <vt:lpstr>TT Interphases Bold</vt:lpstr>
      <vt:lpstr>Aptos Bold</vt:lpstr>
      <vt:lpstr>Calibri</vt:lpstr>
      <vt:lpstr>TT Interphases</vt:lpstr>
      <vt:lpstr>Arial</vt:lpstr>
      <vt:lpstr>Aptos</vt:lpstr>
      <vt:lpstr>Office Theme</vt:lpstr>
      <vt:lpstr>Package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Lung Cancer Report</dc:title>
  <dc:creator/>
  <cp:lastModifiedBy>Ahmed Essam</cp:lastModifiedBy>
  <cp:revision>3</cp:revision>
  <dcterms:created xsi:type="dcterms:W3CDTF">2006-08-16T00:00:00Z</dcterms:created>
  <dcterms:modified xsi:type="dcterms:W3CDTF">2025-12-18T11:54:20Z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ADE8D00C63E44DBDB05C610E2CAB078E_12</vt:lpwstr>
  </property>
  <property fmtid="{D5CDD505-2E9C-101B-9397-08002B2CF9AE}" pid="3" name="KSOProductBuildVer">
    <vt:lpwstr>1033-12.2.0.23155</vt:lpwstr>
  </property>
</Properties>
</file>